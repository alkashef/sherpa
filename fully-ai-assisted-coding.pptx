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388d36da-19d2-3d03-6bc7-0656514c6c93}">
          <p14:sldIdLst>
            <p14:sldId id="256"/>
          </p14:sldIdLst>
        </p14:section>
        <p14:section name="Why" id="{1c0fcdcd-85f1-1478-2758-3681f7aeb5f7}">
          <p14:sldIdLst>
            <p14:sldId id="257"/>
          </p14:sldIdLst>
        </p14:section>
        <p14:section name="The workflow" id="{7be73d8b-d92b-b3bc-ff20-64de8d2d77e9}">
          <p14:sldIdLst>
            <p14:sldId id="258"/>
            <p14:sldId id="259"/>
            <p14:sldId id="260"/>
            <p14:sldId id="261"/>
            <p14:sldId id="262"/>
            <p14:sldId id="263"/>
          </p14:sldIdLst>
        </p14:section>
        <p14:section name="The workflow" id="{c50842b8-f8e7-259b-52c6-c873161e1453}">
          <p14:sldIdLst/>
        </p14:section>
        <p14:section name="The workflow" id="{4e9cbb20-dc2e-5943-0f94-7a034f9d6463}">
          <p14:sldIdLst/>
        </p14:section>
        <p14:section name="The workflow" id="{9b0e06ea-c027-025c-70be-589baa71e43d}">
          <p14:sldIdLst/>
        </p14:section>
        <p14:section name="The workflow" id="{8bb308a1-a554-5015-9146-5cfe17b9f740}">
          <p14:sldIdLst/>
        </p14:section>
        <p14:section name="The workflow" id="{d84f8193-6bf9-3541-858f-01457bb1011c}">
          <p14:sldIdLst/>
        </p14:section>
        <p14:section name="The example" id="{10219d2c-6570-852a-b1f8-16134893a89e}">
          <p14:sldIdLst>
            <p14:sldId id="264"/>
            <p14:sldId id="265"/>
            <p14:sldId id="266"/>
          </p14:sldIdLst>
        </p14:section>
        <p14:section name="The example" id="{6ad9bb09-a538-76e1-432f-9c2e15e40139}">
          <p14:sldIdLst/>
        </p14:section>
        <p14:section name="The example" id="{90a4b351-1015-60fd-f6d8-eb2c16258b9f}">
          <p14:sldIdLst/>
        </p14:section>
        <p14:section name="Close" id="{f15cea9c-48d0-7779-e877-46655147b8b7}">
          <p14:sldIdLst>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1672" cy="59436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3" name="Text 0"/>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Fully AI-Assisted Coding  ·  Ahmad Alkashef</a:t>
            </a:r>
            <a:endParaRPr lang="en-US" sz="1000" dirty="0"/>
          </a:p>
        </p:txBody>
      </p:sp>
      <p:sp>
        <p:nvSpPr>
          <p:cNvPr id="25" name="Slide Number Placeholder 0"/>
          <p:cNvSpPr>
            <a:spLocks noGrp="1"/>
          </p:cNvSpPr>
          <p:nvPr>
            <p:ph type="sldNum" sz="quarter" idx="4294967295"/>
          </p:nvPr>
        </p:nvSpPr>
        <p:spPr>
          <a:xfrm>
            <a:off x="10972800" y="6446520"/>
            <a:ext cx="667512"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46520"/>
            <a:ext cx="667512"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lexfridman.com/dhh-2-transcript/" TargetMode="External"/><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Motif circle"/>
          <p:cNvSpPr/>
          <p:nvPr/>
        </p:nvSpPr>
        <p:spPr>
          <a:xfrm>
            <a:off x="8412480" y="-2194560"/>
            <a:ext cx="6949440" cy="6949440"/>
          </a:xfrm>
          <a:prstGeom prst="ellipse">
            <a:avLst/>
          </a:prstGeom>
          <a:solidFill>
            <a:schemeClr val="accent2">
              <a:alpha val="45000"/>
            </a:schemeClr>
          </a:solidFill>
          <a:ln/>
        </p:spPr>
      </p:sp>
      <p:sp>
        <p:nvSpPr>
          <p:cNvPr id="3" name="Motif circle 2"/>
          <p:cNvSpPr/>
          <p:nvPr/>
        </p:nvSpPr>
        <p:spPr>
          <a:xfrm>
            <a:off x="9692640" y="3474720"/>
            <a:ext cx="4206240" cy="4206240"/>
          </a:xfrm>
          <a:prstGeom prst="ellipse">
            <a:avLst/>
          </a:prstGeom>
          <a:solidFill>
            <a:schemeClr val="accent1">
              <a:alpha val="25000"/>
            </a:schemeClr>
          </a:solidFill>
          <a:ln/>
        </p:spPr>
      </p:sp>
      <p:sp>
        <p:nvSpPr>
          <p:cNvPr id="4" name="Text 2"/>
          <p:cNvSpPr txBox="1"/>
          <p:nvPr/>
        </p:nvSpPr>
        <p:spPr>
          <a:xfrm>
            <a:off x="822960" y="1417320"/>
            <a:ext cx="7315200" cy="320040"/>
          </a:xfrm>
          <a:prstGeom prst="rect">
            <a:avLst/>
          </a:prstGeom>
          <a:noFill/>
          <a:ln/>
        </p:spPr>
        <p:txBody>
          <a:bodyPr wrap="square" lIns="0" tIns="0" rIns="0" bIns="0" rtlCol="0" anchor="ctr"/>
          <a:lstStyle/>
          <a:p>
            <a:pPr indent="0" marL="0">
              <a:buNone/>
            </a:pPr>
            <a:r>
              <a:rPr lang="en-US" sz="1400" b="1" spc="400" kern="0" dirty="0">
                <a:solidFill>
                  <a:srgbClr val="9CC3EA"/>
                </a:solidFill>
              </a:rPr>
              <a:t>A WORKFLOW</a:t>
            </a:r>
            <a:endParaRPr lang="en-US" sz="1400" dirty="0"/>
          </a:p>
        </p:txBody>
      </p:sp>
      <p:sp>
        <p:nvSpPr>
          <p:cNvPr id="5" name="Title"/>
          <p:cNvSpPr txBox="1"/>
          <p:nvPr/>
        </p:nvSpPr>
        <p:spPr>
          <a:xfrm>
            <a:off x="822960" y="1828800"/>
            <a:ext cx="10515600" cy="1097280"/>
          </a:xfrm>
          <a:prstGeom prst="rect">
            <a:avLst/>
          </a:prstGeom>
          <a:noFill/>
          <a:ln/>
        </p:spPr>
        <p:txBody>
          <a:bodyPr wrap="square" lIns="0" tIns="0" rIns="0" bIns="0" rtlCol="0" anchor="ctr"/>
          <a:lstStyle/>
          <a:p>
            <a:pPr indent="0" marL="0">
              <a:buNone/>
            </a:pPr>
            <a:r>
              <a:rPr lang="en-US" sz="5600" b="1" dirty="0">
                <a:solidFill>
                  <a:schemeClr val="bg1"/>
                </a:solidFill>
              </a:rPr>
              <a:t>Fully AI-Assisted Coding</a:t>
            </a:r>
            <a:endParaRPr lang="en-US" sz="5600" dirty="0"/>
          </a:p>
        </p:txBody>
      </p:sp>
      <p:sp>
        <p:nvSpPr>
          <p:cNvPr id="6" name="Quote"/>
          <p:cNvSpPr txBox="1"/>
          <p:nvPr/>
        </p:nvSpPr>
        <p:spPr>
          <a:xfrm>
            <a:off x="822960" y="3291840"/>
            <a:ext cx="7498080" cy="1188720"/>
          </a:xfrm>
          <a:prstGeom prst="rect">
            <a:avLst/>
          </a:prstGeom>
          <a:noFill/>
          <a:ln/>
        </p:spPr>
        <p:txBody>
          <a:bodyPr wrap="square" lIns="0" tIns="0" rIns="0" bIns="0" rtlCol="0" anchor="t"/>
          <a:lstStyle/>
          <a:p>
            <a:pPr indent="0" marL="0">
              <a:spcAft>
                <a:spcPts val="800"/>
              </a:spcAft>
              <a:buNone/>
            </a:pPr>
            <a:r>
              <a:rPr lang="en-US" sz="2200" i="1" dirty="0">
                <a:solidFill>
                  <a:schemeClr val="accent3"/>
                </a:solidFill>
              </a:rPr>
              <a:t>“It’s already happening, the romanticization of handwritten code.”</a:t>
            </a:r>
            <a:endParaRPr lang="en-US" sz="2200" dirty="0"/>
          </a:p>
          <a:p>
            <a:pPr indent="0" marL="0">
              <a:buNone/>
            </a:pPr>
            <a:r>
              <a:rPr lang="en-US" sz="1400" dirty="0">
                <a:solidFill>
                  <a:srgbClr val="9CC3EA"/>
                </a:solidFill>
              </a:rPr>
              <a:t>DHH, </a:t>
            </a:r>
            <a:pPr indent="0" marL="0">
              <a:buNone/>
            </a:pPr>
            <a:r>
              <a:rPr lang="en-US" sz="1400" u="sng" dirty="0">
                <a:solidFill>
                  <a:srgbClr val="9CC3EA"/>
                </a:solidFill>
                <a:hlinkClick r:id="rId1" invalidUrl="" action="" tgtFrame="" tooltip="" history="1" highlightClick="0" endSnd="0">
                  <a:extLst>
                    <a:ext uri="{A12FA001-AC4F-418D-AE19-62706E023703}">
                      <ahyp:hlinkClr xmlns:ahyp="http://schemas.microsoft.com/office/drawing/2018/hyperlinkcolor" val="tx"/>
                    </a:ext>
                  </a:extLst>
                </a:hlinkClick>
              </a:rPr>
              <a:t>Lex Fridman Podcast #501</a:t>
            </a:r>
            <a:endParaRPr lang="en-US" sz="2200" dirty="0"/>
          </a:p>
        </p:txBody>
      </p:sp>
      <p:sp>
        <p:nvSpPr>
          <p:cNvPr id="7" name="Byline"/>
          <p:cNvSpPr txBox="1"/>
          <p:nvPr/>
        </p:nvSpPr>
        <p:spPr>
          <a:xfrm>
            <a:off x="822960" y="4937760"/>
            <a:ext cx="7315200" cy="320040"/>
          </a:xfrm>
          <a:prstGeom prst="rect">
            <a:avLst/>
          </a:prstGeom>
          <a:noFill/>
          <a:ln/>
        </p:spPr>
        <p:txBody>
          <a:bodyPr wrap="square" lIns="0" tIns="0" rIns="0" bIns="0" rtlCol="0" anchor="ctr"/>
          <a:lstStyle/>
          <a:p>
            <a:pPr indent="0" marL="0">
              <a:buNone/>
            </a:pPr>
            <a:r>
              <a:rPr lang="en-US" sz="1600" dirty="0">
                <a:solidFill>
                  <a:schemeClr val="accent4"/>
                </a:solidFill>
              </a:rPr>
              <a:t>Ahmad Alkashef  ·  September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Kicker"/>
          <p:cNvSpPr txBox="1"/>
          <p:nvPr/>
        </p:nvSpPr>
        <p:spPr>
          <a:xfrm>
            <a:off x="548640" y="274320"/>
            <a:ext cx="8229600" cy="256032"/>
          </a:xfrm>
          <a:prstGeom prst="rect">
            <a:avLst/>
          </a:prstGeom>
          <a:noFill/>
          <a:ln/>
        </p:spPr>
        <p:txBody>
          <a:bodyPr wrap="square" lIns="0" tIns="0" rIns="0" bIns="0" rtlCol="0" anchor="ctr"/>
          <a:lstStyle/>
          <a:p>
            <a:pPr indent="0" marL="0">
              <a:buNone/>
            </a:pPr>
            <a:r>
              <a:rPr lang="en-US" sz="1200" b="1" spc="300" kern="0" dirty="0">
                <a:solidFill>
                  <a:schemeClr val="accent1"/>
                </a:solidFill>
              </a:rPr>
              <a:t>OBJECTIVE</a:t>
            </a:r>
            <a:endParaRPr lang="en-US" sz="1200" dirty="0"/>
          </a:p>
        </p:txBody>
      </p:sp>
      <p:sp>
        <p:nvSpPr>
          <p:cNvPr id="3" name="Text 0"/>
          <p:cNvSpPr/>
          <p:nvPr>
            <p:ph idx="100" type="title" hasCustomPrompt="1"/>
          </p:nvPr>
        </p:nvSpPr>
        <p:spPr>
          <a:xfrm>
            <a:off x="548640" y="566928"/>
            <a:ext cx="11091672" cy="594360"/>
          </a:xfrm>
          <a:prstGeom prst="rect">
            <a:avLst/>
          </a:prstGeom>
          <a:noFill/>
          <a:ln/>
        </p:spPr>
        <p:txBody>
          <a:bodyPr wrap="square" lIns="0" tIns="0" rIns="0" bIns="0" rtlCol="0" anchor="t"/>
          <a:lstStyle/>
          <a:p>
            <a:pPr algn="l" indent="0" marL="0">
              <a:buNone/>
            </a:pPr>
            <a:r>
              <a:rPr lang="en-US" sz="2800" b="1" dirty="0">
                <a:solidFill>
                  <a:schemeClr val="tx2"/>
                </a:solidFill>
              </a:rPr>
              <a:t>Develop an app, without writing a single line of code.</a:t>
            </a:r>
            <a:endParaRPr lang="en-US" sz="2800" dirty="0"/>
          </a:p>
        </p:txBody>
      </p:sp>
      <p:sp>
        <p:nvSpPr>
          <p:cNvPr id="4" name="Lead"/>
          <p:cNvSpPr txBox="1"/>
          <p:nvPr/>
        </p:nvSpPr>
        <p:spPr>
          <a:xfrm>
            <a:off x="548640" y="1188720"/>
            <a:ext cx="11091672" cy="685800"/>
          </a:xfrm>
          <a:prstGeom prst="rect">
            <a:avLst/>
          </a:prstGeom>
          <a:noFill/>
          <a:ln/>
        </p:spPr>
        <p:txBody>
          <a:bodyPr wrap="square" lIns="0" tIns="0" rIns="0" bIns="0" rtlCol="0" anchor="t"/>
          <a:lstStyle/>
          <a:p>
            <a:pPr indent="0" marL="0">
              <a:buNone/>
            </a:pPr>
            <a:r>
              <a:rPr lang="en-US" sz="1600" dirty="0">
                <a:solidFill>
                  <a:schemeClr val="accent5"/>
                </a:solidFill>
              </a:rPr>
              <a:t>It is easy to build an app that looks good, fast. It is much harder to build one that survives the test of time and the natural elements. That takes systems thinking and experience in coding. The former is </a:t>
            </a:r>
            <a:pPr indent="0" marL="0">
              <a:buNone/>
            </a:pPr>
            <a:r>
              <a:rPr lang="en-US" sz="1600" b="1" dirty="0">
                <a:solidFill>
                  <a:schemeClr val="accent5"/>
                </a:solidFill>
              </a:rPr>
              <a:t>slop</a:t>
            </a:r>
            <a:pPr indent="0" marL="0">
              <a:buNone/>
            </a:pPr>
            <a:r>
              <a:rPr lang="en-US" sz="1600" dirty="0">
                <a:solidFill>
                  <a:schemeClr val="accent5"/>
                </a:solidFill>
              </a:rPr>
              <a:t>, the latter is </a:t>
            </a:r>
            <a:pPr indent="0" marL="0">
              <a:buNone/>
            </a:pPr>
            <a:r>
              <a:rPr lang="en-US" sz="1600" b="1" dirty="0">
                <a:solidFill>
                  <a:schemeClr val="accent5"/>
                </a:solidFill>
              </a:rPr>
              <a:t>high quality</a:t>
            </a:r>
            <a:pPr indent="0" marL="0">
              <a:buNone/>
            </a:pPr>
            <a:r>
              <a:rPr lang="en-US" sz="1600" dirty="0">
                <a:solidFill>
                  <a:schemeClr val="accent5"/>
                </a:solidFill>
              </a:rPr>
              <a:t>.</a:t>
            </a:r>
            <a:endParaRPr lang="en-US" sz="1600" dirty="0"/>
          </a:p>
        </p:txBody>
      </p:sp>
      <p:sp>
        <p:nvSpPr>
          <p:cNvPr id="5" name="Question"/>
          <p:cNvSpPr txBox="1"/>
          <p:nvPr/>
        </p:nvSpPr>
        <p:spPr>
          <a:xfrm>
            <a:off x="548640" y="2011680"/>
            <a:ext cx="11091672" cy="365760"/>
          </a:xfrm>
          <a:prstGeom prst="rect">
            <a:avLst/>
          </a:prstGeom>
          <a:noFill/>
          <a:ln/>
        </p:spPr>
        <p:txBody>
          <a:bodyPr wrap="square" lIns="0" tIns="0" rIns="0" bIns="0" rtlCol="0" anchor="ctr"/>
          <a:lstStyle/>
          <a:p>
            <a:pPr indent="0" marL="0">
              <a:buNone/>
            </a:pPr>
            <a:r>
              <a:rPr lang="en-US" sz="2000" b="1" dirty="0">
                <a:solidFill>
                  <a:schemeClr val="tx2"/>
                </a:solidFill>
              </a:rPr>
              <a:t>What does high-quality code mean?</a:t>
            </a:r>
            <a:endParaRPr lang="en-US" sz="2000" dirty="0"/>
          </a:p>
        </p:txBody>
      </p:sp>
      <p:graphicFrame>
        <p:nvGraphicFramePr>
          <p:cNvPr id="3" name="Compare table"/>
          <p:cNvGraphicFramePr>
            <a:graphicFrameLocks noGrp="1"/>
          </p:cNvGraphicFramePr>
          <p:nvPr>
            <p:extLst>
              <p:ext uri="{D42A27DB-BD31-4B8C-83A1-F6EECF244321}">
                <p14:modId xmlns:p14="http://schemas.microsoft.com/office/powerpoint/2010/main" val="1579011935"/>
              </p:ext>
            </p:extLst>
          </p:nvPr>
        </p:nvGraphicFramePr>
        <p:xfrm>
          <a:off x="548640" y="2487168"/>
          <a:ext cx="11091672" cy="914400"/>
        </p:xfrm>
        <a:graphic>
          <a:graphicData uri="http://schemas.openxmlformats.org/drawingml/2006/table">
            <a:tbl>
              <a:tblPr/>
              <a:tblGrid>
                <a:gridCol w="3383280"/>
                <a:gridCol w="7708392"/>
              </a:tblGrid>
              <a:tr h="0">
                <a:tc>
                  <a:txBody>
                    <a:bodyPr/>
                    <a:lstStyle/>
                    <a:p>
                      <a:pPr indent="0" marL="0">
                        <a:buNone/>
                      </a:pPr>
                      <a:r>
                        <a:rPr lang="en-US" sz="1300" b="1" dirty="0">
                          <a:solidFill>
                            <a:schemeClr val="accent2"/>
                          </a:solidFill>
                          <a:latin typeface="Calibri" pitchFamily="34" charset="0"/>
                          <a:ea typeface="Calibri" pitchFamily="34" charset="-122"/>
                          <a:cs typeface="Calibri" pitchFamily="34" charset="-120"/>
                        </a:rPr>
                        <a:t>The classic answer, for humans</a:t>
                      </a:r>
                      <a:endParaRPr lang="en-US" sz="1300" dirty="0">
                        <a:latin typeface="Calibri" charset="0"/>
                        <a:ea typeface="Calibri" charset="0"/>
                        <a:cs typeface="Calibri" charset="0"/>
                      </a:endParaRPr>
                    </a:p>
                  </a:txBody>
                  <a:tcPr marL="101600" marR="101600" marT="63500" marB="6350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accent3"/>
                    </a:solidFill>
                  </a:tcPr>
                </a:tc>
                <a:tc>
                  <a:txBody>
                    <a:bodyPr/>
                    <a:lstStyle/>
                    <a:p>
                      <a:pPr indent="0" marL="0">
                        <a:buNone/>
                      </a:pPr>
                      <a:r>
                        <a:rPr lang="en-US" sz="1300" b="1" dirty="0">
                          <a:solidFill>
                            <a:schemeClr val="accent2"/>
                          </a:solidFill>
                          <a:latin typeface="Calibri" pitchFamily="34" charset="0"/>
                          <a:ea typeface="Calibri" pitchFamily="34" charset="-122"/>
                          <a:cs typeface="Calibri" pitchFamily="34" charset="-120"/>
                        </a:rPr>
                        <a:t>In the age of AI, why it matters</a:t>
                      </a:r>
                      <a:endParaRPr lang="en-US" sz="1300" dirty="0">
                        <a:latin typeface="Calibri" charset="0"/>
                        <a:ea typeface="Calibri" charset="0"/>
                        <a:cs typeface="Calibri" charset="0"/>
                      </a:endParaRPr>
                    </a:p>
                  </a:txBody>
                  <a:tcPr marL="101600" marR="101600" marT="63500" marB="6350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accent3"/>
                    </a:solidFill>
                  </a:tcPr>
                </a:tc>
              </a:tr>
              <a:tr h="0">
                <a:tc>
                  <a:txBody>
                    <a:bodyPr/>
                    <a:lstStyle/>
                    <a:p>
                      <a:pPr indent="0" marL="0">
                        <a:buNone/>
                      </a:pPr>
                      <a:r>
                        <a:rPr lang="en-US" sz="1300" b="1" dirty="0">
                          <a:solidFill>
                            <a:schemeClr val="tx2"/>
                          </a:solidFill>
                          <a:latin typeface="Calibri" pitchFamily="34" charset="0"/>
                          <a:ea typeface="Calibri" pitchFamily="34" charset="-122"/>
                          <a:cs typeface="Calibri" pitchFamily="34" charset="-120"/>
                        </a:rPr>
                        <a:t>Readable: clear names, small functions</a:t>
                      </a:r>
                      <a:endParaRPr lang="en-US" sz="1200" dirty="0">
                        <a:latin typeface="Calibri" charset="0"/>
                        <a:ea typeface="Calibri" charset="0"/>
                        <a:cs typeface="Calibri" charset="0"/>
                      </a:endParaRPr>
                    </a:p>
                  </a:txBody>
                  <a:tcPr marL="101600" marR="101600" marT="63500" marB="63500" anchor="t">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The AI reads the code to know what to change. Less to misread, fewer wrong guesses. </a:t>
                      </a:r>
                      <a:pPr indent="0" marL="0">
                        <a:buNone/>
                      </a:pPr>
                      <a:r>
                        <a:rPr lang="en-US" sz="1300" i="1" dirty="0">
                          <a:solidFill>
                            <a:schemeClr val="tx1"/>
                          </a:solidFill>
                          <a:latin typeface="Calibri" pitchFamily="34" charset="0"/>
                          <a:ea typeface="Calibri" pitchFamily="34" charset="-122"/>
                          <a:cs typeface="Calibri" pitchFamily="34" charset="-120"/>
                        </a:rPr>
                        <a:t>“beautiful code is easier to understand, it is simpler, it is more malleable”</a:t>
                      </a:r>
                      <a:pPr indent="0" marL="0">
                        <a:buNone/>
                      </a:pPr>
                      <a:r>
                        <a:rPr lang="en-US" sz="1300" dirty="0">
                          <a:solidFill>
                            <a:schemeClr val="tx1"/>
                          </a:solidFill>
                          <a:latin typeface="Calibri" pitchFamily="34" charset="0"/>
                          <a:ea typeface="Calibri" pitchFamily="34" charset="-122"/>
                          <a:cs typeface="Calibri" pitchFamily="34" charset="-120"/>
                        </a:rPr>
                        <a:t> (DHH)</a:t>
                      </a:r>
                      <a:endParaRPr lang="en-US" sz="1200" dirty="0">
                        <a:latin typeface="Calibri" charset="0"/>
                        <a:ea typeface="Calibri" charset="0"/>
                        <a:cs typeface="Calibri" charset="0"/>
                      </a:endParaRPr>
                    </a:p>
                  </a:txBody>
                  <a:tcPr marL="101600" marR="101600" marT="63500" marB="63500" anchor="t">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r>
              <a:tr h="0">
                <a:tc>
                  <a:txBody>
                    <a:bodyPr/>
                    <a:lstStyle/>
                    <a:p>
                      <a:pPr indent="0" marL="0">
                        <a:buNone/>
                      </a:pPr>
                      <a:r>
                        <a:rPr lang="en-US" sz="1300" b="1" dirty="0">
                          <a:solidFill>
                            <a:schemeClr val="tx2"/>
                          </a:solidFill>
                          <a:latin typeface="Calibri" pitchFamily="34" charset="0"/>
                          <a:ea typeface="Calibri" pitchFamily="34" charset="-122"/>
                          <a:cs typeface="Calibri" pitchFamily="34" charset="-120"/>
                        </a:rPr>
                        <a:t>Simple logic, no cleverness</a:t>
                      </a:r>
                      <a:endParaRPr lang="en-US" sz="1200" dirty="0">
                        <a:latin typeface="Calibri" charset="0"/>
                        <a:ea typeface="Calibri" charset="0"/>
                        <a:cs typeface="Calibri" charset="0"/>
                      </a:endParaRPr>
                    </a:p>
                  </a:txBody>
                  <a:tcPr marL="101600" marR="101600" marT="63500" marB="63500" anchor="t">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Simple code is cheaper for the AI to work in. </a:t>
                      </a:r>
                      <a:pPr indent="0" marL="0">
                        <a:buNone/>
                      </a:pPr>
                      <a:r>
                        <a:rPr lang="en-US" sz="1300" i="1" dirty="0">
                          <a:solidFill>
                            <a:schemeClr val="tx1"/>
                          </a:solidFill>
                          <a:latin typeface="Calibri" pitchFamily="34" charset="0"/>
                          <a:ea typeface="Calibri" pitchFamily="34" charset="-122"/>
                          <a:cs typeface="Calibri" pitchFamily="34" charset="-120"/>
                        </a:rPr>
                        <a:t>“there is great payoff to writing systems that agents have an easier time dealing with”</a:t>
                      </a:r>
                      <a:pPr indent="0" marL="0">
                        <a:buNone/>
                      </a:pPr>
                      <a:r>
                        <a:rPr lang="en-US" sz="1300" dirty="0">
                          <a:solidFill>
                            <a:schemeClr val="tx1"/>
                          </a:solidFill>
                          <a:latin typeface="Calibri" pitchFamily="34" charset="0"/>
                          <a:ea typeface="Calibri" pitchFamily="34" charset="-122"/>
                          <a:cs typeface="Calibri" pitchFamily="34" charset="-120"/>
                        </a:rPr>
                        <a:t> (DHH)</a:t>
                      </a:r>
                      <a:endParaRPr lang="en-US" sz="1200" dirty="0">
                        <a:latin typeface="Calibri" charset="0"/>
                        <a:ea typeface="Calibri" charset="0"/>
                        <a:cs typeface="Calibri" charset="0"/>
                      </a:endParaRPr>
                    </a:p>
                  </a:txBody>
                  <a:tcPr marL="101600" marR="101600" marT="63500" marB="63500" anchor="t">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r>
              <a:tr h="0">
                <a:tc>
                  <a:txBody>
                    <a:bodyPr/>
                    <a:lstStyle/>
                    <a:p>
                      <a:pPr indent="0" marL="0">
                        <a:buNone/>
                      </a:pPr>
                      <a:r>
                        <a:rPr lang="en-US" sz="1300" b="1" dirty="0">
                          <a:solidFill>
                            <a:schemeClr val="tx2"/>
                          </a:solidFill>
                          <a:latin typeface="Calibri" pitchFamily="34" charset="0"/>
                          <a:ea typeface="Calibri" pitchFamily="34" charset="-122"/>
                          <a:cs typeface="Calibri" pitchFamily="34" charset="-120"/>
                        </a:rPr>
                        <a:t>A design that is easy to maintain and change over time</a:t>
                      </a:r>
                      <a:endParaRPr lang="en-US" sz="1200" dirty="0">
                        <a:latin typeface="Calibri" charset="0"/>
                        <a:ea typeface="Calibri" charset="0"/>
                        <a:cs typeface="Calibri" charset="0"/>
                      </a:endParaRPr>
                    </a:p>
                  </a:txBody>
                  <a:tcPr marL="101600" marR="101600" marT="63500" marB="63500" anchor="t">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The AI changes code faster than anyone can re-read it, and every change lands on the last one. At Basecamp, each vibe-coded PR looked fine alone; together they </a:t>
                      </a:r>
                      <a:pPr indent="0" marL="0">
                        <a:buNone/>
                      </a:pPr>
                      <a:r>
                        <a:rPr lang="en-US" sz="1300" i="1" dirty="0">
                          <a:solidFill>
                            <a:schemeClr val="tx1"/>
                          </a:solidFill>
                          <a:latin typeface="Calibri" pitchFamily="34" charset="0"/>
                          <a:ea typeface="Calibri" pitchFamily="34" charset="-122"/>
                          <a:cs typeface="Calibri" pitchFamily="34" charset="-120"/>
                        </a:rPr>
                        <a:t>“destroyed the architecture of the system”</a:t>
                      </a:r>
                      <a:pPr indent="0" marL="0">
                        <a:buNone/>
                      </a:pPr>
                      <a:r>
                        <a:rPr lang="en-US" sz="1300" dirty="0">
                          <a:solidFill>
                            <a:schemeClr val="tx1"/>
                          </a:solidFill>
                          <a:latin typeface="Calibri" pitchFamily="34" charset="0"/>
                          <a:ea typeface="Calibri" pitchFamily="34" charset="-122"/>
                          <a:cs typeface="Calibri" pitchFamily="34" charset="-120"/>
                        </a:rPr>
                        <a:t> (DHH)</a:t>
                      </a:r>
                      <a:endParaRPr lang="en-US" sz="1200" dirty="0">
                        <a:latin typeface="Calibri" charset="0"/>
                        <a:ea typeface="Calibri" charset="0"/>
                        <a:cs typeface="Calibri" charset="0"/>
                      </a:endParaRPr>
                    </a:p>
                  </a:txBody>
                  <a:tcPr marL="101600" marR="101600" marT="63500" marB="63500" anchor="t">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r>
              <a:tr h="0">
                <a:tc>
                  <a:txBody>
                    <a:bodyPr/>
                    <a:lstStyle/>
                    <a:p>
                      <a:pPr indent="0" marL="0">
                        <a:buNone/>
                      </a:pPr>
                      <a:r>
                        <a:rPr lang="en-US" sz="1300" b="1" dirty="0">
                          <a:solidFill>
                            <a:schemeClr val="tx2"/>
                          </a:solidFill>
                          <a:latin typeface="Calibri" pitchFamily="34" charset="0"/>
                          <a:ea typeface="Calibri" pitchFamily="34" charset="-122"/>
                          <a:cs typeface="Calibri" pitchFamily="34" charset="-120"/>
                        </a:rPr>
                        <a:t>Comments where the why is not obvious</a:t>
                      </a:r>
                      <a:endParaRPr lang="en-US" sz="1200" dirty="0">
                        <a:latin typeface="Calibri" charset="0"/>
                        <a:ea typeface="Calibri" charset="0"/>
                        <a:cs typeface="Calibri" charset="0"/>
                      </a:endParaRPr>
                    </a:p>
                  </a:txBody>
                  <a:tcPr marL="101600" marR="101600" marT="63500" marB="63500" anchor="t">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Every AI session starts with no memory. The code shows what it does; only a comment or a doc says why.</a:t>
                      </a:r>
                      <a:endParaRPr lang="en-US" sz="1200" dirty="0">
                        <a:latin typeface="Calibri" charset="0"/>
                        <a:ea typeface="Calibri" charset="0"/>
                        <a:cs typeface="Calibri" charset="0"/>
                      </a:endParaRPr>
                    </a:p>
                  </a:txBody>
                  <a:tcPr marL="101600" marR="101600" marT="63500" marB="63500" anchor="t">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r>
              <a:tr h="0">
                <a:tc>
                  <a:txBody>
                    <a:bodyPr/>
                    <a:lstStyle/>
                    <a:p>
                      <a:pPr indent="0" marL="0">
                        <a:buNone/>
                      </a:pPr>
                      <a:r>
                        <a:rPr lang="en-US" sz="1300" b="1" dirty="0">
                          <a:solidFill>
                            <a:schemeClr val="tx2"/>
                          </a:solidFill>
                          <a:latin typeface="Calibri" pitchFamily="34" charset="0"/>
                          <a:ea typeface="Calibri" pitchFamily="34" charset="-122"/>
                          <a:cs typeface="Calibri" pitchFamily="34" charset="-120"/>
                        </a:rPr>
                        <a:t>Systems thinking</a:t>
                      </a:r>
                      <a:endParaRPr lang="en-US" sz="1200" dirty="0">
                        <a:latin typeface="Calibri" charset="0"/>
                        <a:ea typeface="Calibri" charset="0"/>
                        <a:cs typeface="Calibri" charset="0"/>
                      </a:endParaRPr>
                    </a:p>
                  </a:txBody>
                  <a:tcPr marL="101600" marR="101600" marT="63500" marB="63500" anchor="t">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The AI writes the part; a person holds the whole: boundaries, data flow, how the pieces fit.</a:t>
                      </a:r>
                      <a:endParaRPr lang="en-US" sz="1200" dirty="0">
                        <a:latin typeface="Calibri" charset="0"/>
                        <a:ea typeface="Calibri" charset="0"/>
                        <a:cs typeface="Calibri" charset="0"/>
                      </a:endParaRPr>
                    </a:p>
                  </a:txBody>
                  <a:tcPr marL="101600" marR="101600" marT="63500" marB="63500" anchor="t">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r>
              <a:tr h="0">
                <a:tc>
                  <a:txBody>
                    <a:bodyPr/>
                    <a:lstStyle/>
                    <a:p>
                      <a:pPr indent="0" marL="0">
                        <a:buNone/>
                      </a:pPr>
                      <a:r>
                        <a:rPr lang="en-US" sz="1300" b="1" dirty="0">
                          <a:solidFill>
                            <a:schemeClr val="tx2"/>
                          </a:solidFill>
                          <a:latin typeface="Calibri" pitchFamily="34" charset="0"/>
                          <a:ea typeface="Calibri" pitchFamily="34" charset="-122"/>
                          <a:cs typeface="Calibri" pitchFamily="34" charset="-120"/>
                        </a:rPr>
                        <a:t>Proper commit comments</a:t>
                      </a:r>
                      <a:endParaRPr lang="en-US" sz="1200" dirty="0">
                        <a:latin typeface="Calibri" charset="0"/>
                        <a:ea typeface="Calibri" charset="0"/>
                        <a:cs typeface="Calibri" charset="0"/>
                      </a:endParaRPr>
                    </a:p>
                  </a:txBody>
                  <a:tcPr marL="101600" marR="101600" marT="63500" marB="63500" anchor="t">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Git tells the story. The history is the record of what changed and why, for the next person and the next AI session.</a:t>
                      </a:r>
                      <a:endParaRPr lang="en-US" sz="1200" dirty="0">
                        <a:latin typeface="Calibri" charset="0"/>
                        <a:ea typeface="Calibri" charset="0"/>
                        <a:cs typeface="Calibri" charset="0"/>
                      </a:endParaRPr>
                    </a:p>
                  </a:txBody>
                  <a:tcPr marL="101600" marR="101600" marT="63500" marB="63500" anchor="t">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r>
              <a:tr h="0">
                <a:tc>
                  <a:txBody>
                    <a:bodyPr/>
                    <a:lstStyle/>
                    <a:p>
                      <a:pPr indent="0" marL="0">
                        <a:buNone/>
                      </a:pPr>
                      <a:r>
                        <a:rPr lang="en-US" sz="1300" b="1" dirty="0">
                          <a:solidFill>
                            <a:schemeClr val="tx2"/>
                          </a:solidFill>
                          <a:latin typeface="Calibri" pitchFamily="34" charset="0"/>
                          <a:ea typeface="Calibri" pitchFamily="34" charset="-122"/>
                          <a:cs typeface="Calibri" pitchFamily="34" charset="-120"/>
                        </a:rPr>
                        <a:t>Tests that prove it works, and safe by default</a:t>
                      </a:r>
                      <a:endParaRPr lang="en-US" sz="1200" dirty="0">
                        <a:latin typeface="Calibri" charset="0"/>
                        <a:ea typeface="Calibri" charset="0"/>
                        <a:cs typeface="Calibri" charset="0"/>
                      </a:endParaRPr>
                    </a:p>
                  </a:txBody>
                  <a:tcPr marL="101600" marR="101600" marT="63500" marB="63500" anchor="t">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The AI can break things quietly. A test for every requirement catches it; no secrets in git and no destructive commands limit the damage.</a:t>
                      </a:r>
                      <a:endParaRPr lang="en-US" sz="1200" dirty="0">
                        <a:latin typeface="Calibri" charset="0"/>
                        <a:ea typeface="Calibri" charset="0"/>
                        <a:cs typeface="Calibri" charset="0"/>
                      </a:endParaRPr>
                    </a:p>
                  </a:txBody>
                  <a:tcPr marL="101600" marR="101600" marT="63500" marB="63500" anchor="t">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0972800" y="6446520"/>
            <a:ext cx="667512"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Kicker"/>
          <p:cNvSpPr txBox="1"/>
          <p:nvPr/>
        </p:nvSpPr>
        <p:spPr>
          <a:xfrm>
            <a:off x="548640" y="274320"/>
            <a:ext cx="8229600" cy="256032"/>
          </a:xfrm>
          <a:prstGeom prst="rect">
            <a:avLst/>
          </a:prstGeom>
          <a:noFill/>
          <a:ln/>
        </p:spPr>
        <p:txBody>
          <a:bodyPr wrap="square" lIns="0" tIns="0" rIns="0" bIns="0" rtlCol="0" anchor="ctr"/>
          <a:lstStyle/>
          <a:p>
            <a:pPr indent="0" marL="0">
              <a:buNone/>
            </a:pPr>
            <a:r>
              <a:rPr lang="en-US" sz="1200" b="1" spc="300" kern="0" dirty="0">
                <a:solidFill>
                  <a:schemeClr val="accent1"/>
                </a:solidFill>
              </a:rPr>
              <a:t>THE THREE MAIN DOCUMENTS</a:t>
            </a:r>
            <a:endParaRPr lang="en-US" sz="1200" dirty="0"/>
          </a:p>
        </p:txBody>
      </p:sp>
      <p:sp>
        <p:nvSpPr>
          <p:cNvPr id="3" name="Text 0"/>
          <p:cNvSpPr/>
          <p:nvPr>
            <p:ph idx="100" type="title" hasCustomPrompt="1"/>
          </p:nvPr>
        </p:nvSpPr>
        <p:spPr>
          <a:xfrm>
            <a:off x="548640" y="566928"/>
            <a:ext cx="11091672" cy="594360"/>
          </a:xfrm>
          <a:prstGeom prst="rect">
            <a:avLst/>
          </a:prstGeom>
          <a:noFill/>
          <a:ln/>
        </p:spPr>
        <p:txBody>
          <a:bodyPr wrap="square" lIns="0" tIns="0" rIns="0" bIns="0" rtlCol="0" anchor="t"/>
          <a:lstStyle/>
          <a:p>
            <a:pPr algn="l" indent="0" marL="0">
              <a:buNone/>
            </a:pPr>
            <a:r>
              <a:rPr lang="en-US" sz="2800" b="1" dirty="0">
                <a:solidFill>
                  <a:schemeClr val="tx2"/>
                </a:solidFill>
              </a:rPr>
              <a:t>Spec → Design → Plan</a:t>
            </a:r>
            <a:endParaRPr lang="en-US" sz="2800" dirty="0"/>
          </a:p>
        </p:txBody>
      </p:sp>
      <p:sp>
        <p:nvSpPr>
          <p:cNvPr id="4" name="Lead"/>
          <p:cNvSpPr txBox="1"/>
          <p:nvPr/>
        </p:nvSpPr>
        <p:spPr>
          <a:xfrm>
            <a:off x="548640" y="1188720"/>
            <a:ext cx="11091672" cy="320040"/>
          </a:xfrm>
          <a:prstGeom prst="rect">
            <a:avLst/>
          </a:prstGeom>
          <a:noFill/>
          <a:ln/>
        </p:spPr>
        <p:txBody>
          <a:bodyPr wrap="square" lIns="0" tIns="0" rIns="0" bIns="0" rtlCol="0" anchor="t"/>
          <a:lstStyle/>
          <a:p>
            <a:pPr indent="0" marL="0">
              <a:buNone/>
            </a:pPr>
            <a:r>
              <a:rPr lang="en-US" sz="1600" dirty="0">
                <a:solidFill>
                  <a:schemeClr val="accent5"/>
                </a:solidFill>
              </a:rPr>
              <a:t>This is a workflow. A way of thinking. Your cockpit for coding.</a:t>
            </a:r>
            <a:endParaRPr lang="en-US" sz="1600" dirty="0"/>
          </a:p>
        </p:txBody>
      </p:sp>
      <p:sp>
        <p:nvSpPr>
          <p:cNvPr id="5" name="Spec card"/>
          <p:cNvSpPr txBox="1"/>
          <p:nvPr/>
        </p:nvSpPr>
        <p:spPr>
          <a:xfrm>
            <a:off x="548640" y="1645920"/>
            <a:ext cx="4296066" cy="2240280"/>
          </a:xfrm>
          <a:prstGeom prst="roundRect">
            <a:avLst>
              <a:gd name="adj" fmla="val 4082"/>
            </a:avLst>
          </a:prstGeom>
          <a:solidFill>
            <a:schemeClr val="bg1"/>
          </a:solidFill>
          <a:ln w="25400">
            <a:solidFill>
              <a:schemeClr val="accent1"/>
            </a:solidFill>
          </a:ln>
        </p:spPr>
        <p:txBody>
          <a:bodyPr wrap="square" lIns="114300" tIns="152400" rIns="152400" bIns="114300" rtlCol="0" anchor="t"/>
          <a:lstStyle/>
          <a:p>
            <a:pPr indent="0" marL="0">
              <a:buNone/>
            </a:pPr>
            <a:r>
              <a:rPr lang="en-US" sz="2000" b="1" dirty="0">
                <a:solidFill>
                  <a:schemeClr val="tx2"/>
                </a:solidFill>
              </a:rPr>
              <a:t>Spec</a:t>
            </a:r>
            <a:endParaRPr lang="en-US" sz="2000" dirty="0"/>
          </a:p>
          <a:p>
            <a:pPr indent="0" marL="0">
              <a:buNone/>
            </a:pPr>
            <a:r>
              <a:rPr lang="en-US" sz="1300" b="1" dirty="0">
                <a:solidFill>
                  <a:schemeClr val="accent1"/>
                </a:solidFill>
              </a:rPr>
              <a:t>What</a:t>
            </a:r>
            <a:endParaRPr lang="en-US" sz="2000" dirty="0"/>
          </a:p>
          <a:p>
            <a:pPr indent="0" marL="0">
              <a:spcAft>
                <a:spcPts val="400"/>
              </a:spcAft>
              <a:buNone/>
            </a:pPr>
            <a:r>
              <a:rPr lang="en-US" sz="1100" b="1" spc="200" kern="0" dirty="0">
                <a:solidFill>
                  <a:schemeClr val="tx2"/>
                </a:solidFill>
              </a:rPr>
              <a:t>A HUMAN APPROVES</a:t>
            </a:r>
            <a:endParaRPr lang="en-US" sz="2000" dirty="0"/>
          </a:p>
          <a:p>
            <a:pPr indent="0" marL="0">
              <a:spcAft>
                <a:spcPts val="300"/>
              </a:spcAft>
              <a:buNone/>
            </a:pPr>
            <a:r>
              <a:rPr lang="en-US" sz="1250" dirty="0">
                <a:solidFill>
                  <a:schemeClr val="accent5"/>
                </a:solidFill>
              </a:rPr>
              <a:t>Requirements with IDs. The AI can help write it, interview style.</a:t>
            </a:r>
            <a:endParaRPr lang="en-US" sz="2000" dirty="0"/>
          </a:p>
          <a:p>
            <a:pPr indent="0" marL="0">
              <a:spcAft>
                <a:spcPts val="300"/>
              </a:spcAft>
              <a:buNone/>
            </a:pPr>
            <a:r>
              <a:rPr lang="en-US" sz="1250" dirty="0">
                <a:solidFill>
                  <a:schemeClr val="accent5"/>
                </a:solidFill>
              </a:rPr>
              <a:t>But a human </a:t>
            </a:r>
            <a:pPr indent="0" marL="0">
              <a:buNone/>
            </a:pPr>
            <a:r>
              <a:rPr lang="en-US" sz="1250" b="1" dirty="0">
                <a:solidFill>
                  <a:schemeClr val="accent5"/>
                </a:solidFill>
              </a:rPr>
              <a:t>must</a:t>
            </a:r>
            <a:pPr indent="0" marL="0">
              <a:buNone/>
            </a:pPr>
            <a:r>
              <a:rPr lang="en-US" sz="1250" dirty="0">
                <a:solidFill>
                  <a:schemeClr val="accent5"/>
                </a:solidFill>
              </a:rPr>
              <a:t> review and approve it. This is the single most important step and the single most important quality gate. It is done by a human, not by the AI.</a:t>
            </a:r>
            <a:endParaRPr lang="en-US" sz="2000" dirty="0"/>
          </a:p>
        </p:txBody>
      </p:sp>
      <p:sp>
        <p:nvSpPr>
          <p:cNvPr id="6" name="Arrow"/>
          <p:cNvSpPr/>
          <p:nvPr/>
        </p:nvSpPr>
        <p:spPr>
          <a:xfrm>
            <a:off x="4881282" y="2628900"/>
            <a:ext cx="256032" cy="274320"/>
          </a:xfrm>
          <a:prstGeom prst="rightArrow">
            <a:avLst/>
          </a:prstGeom>
          <a:solidFill>
            <a:schemeClr val="accent6"/>
          </a:solidFill>
          <a:ln/>
        </p:spPr>
      </p:sp>
      <p:sp>
        <p:nvSpPr>
          <p:cNvPr id="7" name="Design card"/>
          <p:cNvSpPr txBox="1"/>
          <p:nvPr/>
        </p:nvSpPr>
        <p:spPr>
          <a:xfrm>
            <a:off x="5173890" y="1645920"/>
            <a:ext cx="3068619" cy="2240280"/>
          </a:xfrm>
          <a:prstGeom prst="roundRect">
            <a:avLst>
              <a:gd name="adj" fmla="val 4082"/>
            </a:avLst>
          </a:prstGeom>
          <a:solidFill>
            <a:schemeClr val="bg1"/>
          </a:solidFill>
          <a:ln w="9525">
            <a:solidFill>
              <a:schemeClr val="accent4"/>
            </a:solidFill>
          </a:ln>
        </p:spPr>
        <p:txBody>
          <a:bodyPr wrap="square" lIns="114300" tIns="152400" rIns="152400" bIns="114300" rtlCol="0" anchor="t"/>
          <a:lstStyle/>
          <a:p>
            <a:pPr indent="0" marL="0">
              <a:buNone/>
            </a:pPr>
            <a:r>
              <a:rPr lang="en-US" sz="2000" b="1" dirty="0">
                <a:solidFill>
                  <a:schemeClr val="tx2"/>
                </a:solidFill>
              </a:rPr>
              <a:t>Design</a:t>
            </a:r>
            <a:endParaRPr lang="en-US" sz="2000" dirty="0"/>
          </a:p>
          <a:p>
            <a:pPr indent="0" marL="0">
              <a:buNone/>
            </a:pPr>
            <a:r>
              <a:rPr lang="en-US" sz="1300" b="1" dirty="0">
                <a:solidFill>
                  <a:schemeClr val="accent1"/>
                </a:solidFill>
              </a:rPr>
              <a:t>How</a:t>
            </a:r>
            <a:endParaRPr lang="en-US" sz="2000" dirty="0"/>
          </a:p>
          <a:p>
            <a:pPr indent="0" marL="0">
              <a:spcAft>
                <a:spcPts val="400"/>
              </a:spcAft>
              <a:buNone/>
            </a:pPr>
            <a:r>
              <a:rPr lang="en-US" sz="1100" b="1" spc="200" kern="0" dirty="0">
                <a:solidFill>
                  <a:schemeClr val="tx2"/>
                </a:solidFill>
              </a:rPr>
              <a:t>A HUMAN DESIGNS</a:t>
            </a:r>
            <a:endParaRPr lang="en-US" sz="2000" dirty="0"/>
          </a:p>
          <a:p>
            <a:pPr indent="0" marL="0">
              <a:spcAft>
                <a:spcPts val="300"/>
              </a:spcAft>
              <a:buNone/>
            </a:pPr>
            <a:r>
              <a:rPr lang="en-US" sz="1250" dirty="0">
                <a:solidFill>
                  <a:schemeClr val="accent5"/>
                </a:solidFill>
              </a:rPr>
              <a:t>Architecture, data, decisions. The AI helps.</a:t>
            </a:r>
            <a:endParaRPr lang="en-US" sz="2000" dirty="0"/>
          </a:p>
          <a:p>
            <a:pPr indent="0" marL="0">
              <a:spcAft>
                <a:spcPts val="300"/>
              </a:spcAft>
              <a:buNone/>
            </a:pPr>
            <a:r>
              <a:rPr lang="en-US" sz="1250" dirty="0">
                <a:solidFill>
                  <a:schemeClr val="accent5"/>
                </a:solidFill>
              </a:rPr>
              <a:t>Done by a human; the AI assists. It needs senior software engineering experience.</a:t>
            </a:r>
            <a:endParaRPr lang="en-US" sz="2000" dirty="0"/>
          </a:p>
        </p:txBody>
      </p:sp>
      <p:sp>
        <p:nvSpPr>
          <p:cNvPr id="8" name="Arrow"/>
          <p:cNvSpPr/>
          <p:nvPr/>
        </p:nvSpPr>
        <p:spPr>
          <a:xfrm>
            <a:off x="8279085" y="2628900"/>
            <a:ext cx="256032" cy="274320"/>
          </a:xfrm>
          <a:prstGeom prst="rightArrow">
            <a:avLst/>
          </a:prstGeom>
          <a:solidFill>
            <a:schemeClr val="accent6"/>
          </a:solidFill>
          <a:ln/>
        </p:spPr>
      </p:sp>
      <p:sp>
        <p:nvSpPr>
          <p:cNvPr id="9" name="Plan card"/>
          <p:cNvSpPr txBox="1"/>
          <p:nvPr/>
        </p:nvSpPr>
        <p:spPr>
          <a:xfrm>
            <a:off x="8571693" y="1645920"/>
            <a:ext cx="3068619" cy="2240280"/>
          </a:xfrm>
          <a:prstGeom prst="roundRect">
            <a:avLst>
              <a:gd name="adj" fmla="val 4082"/>
            </a:avLst>
          </a:prstGeom>
          <a:solidFill>
            <a:schemeClr val="bg1"/>
          </a:solidFill>
          <a:ln w="9525">
            <a:solidFill>
              <a:schemeClr val="accent4"/>
            </a:solidFill>
          </a:ln>
        </p:spPr>
        <p:txBody>
          <a:bodyPr wrap="square" lIns="114300" tIns="152400" rIns="152400" bIns="114300" rtlCol="0" anchor="t"/>
          <a:lstStyle/>
          <a:p>
            <a:pPr indent="0" marL="0">
              <a:buNone/>
            </a:pPr>
            <a:r>
              <a:rPr lang="en-US" sz="2000" b="1" dirty="0">
                <a:solidFill>
                  <a:schemeClr val="tx2"/>
                </a:solidFill>
              </a:rPr>
              <a:t>Plan</a:t>
            </a:r>
            <a:endParaRPr lang="en-US" sz="2000" dirty="0"/>
          </a:p>
          <a:p>
            <a:pPr indent="0" marL="0">
              <a:buNone/>
            </a:pPr>
            <a:r>
              <a:rPr lang="en-US" sz="1300" b="1" dirty="0">
                <a:solidFill>
                  <a:schemeClr val="accent1"/>
                </a:solidFill>
              </a:rPr>
              <a:t>Implementation</a:t>
            </a:r>
            <a:endParaRPr lang="en-US" sz="2000" dirty="0"/>
          </a:p>
          <a:p>
            <a:pPr indent="0" marL="0">
              <a:spcAft>
                <a:spcPts val="400"/>
              </a:spcAft>
              <a:buNone/>
            </a:pPr>
            <a:r>
              <a:rPr lang="en-US" sz="1100" b="1" spc="200" kern="0" dirty="0">
                <a:solidFill>
                  <a:schemeClr val="tx2"/>
                </a:solidFill>
              </a:rPr>
              <a:t>THE AI BUILDS</a:t>
            </a:r>
            <a:endParaRPr lang="en-US" sz="2000" dirty="0"/>
          </a:p>
          <a:p>
            <a:pPr indent="0" marL="0">
              <a:spcAft>
                <a:spcPts val="300"/>
              </a:spcAft>
              <a:buNone/>
            </a:pPr>
            <a:r>
              <a:rPr lang="en-US" sz="1250" dirty="0">
                <a:solidFill>
                  <a:schemeClr val="accent5"/>
                </a:solidFill>
              </a:rPr>
              <a:t>Fully built by the AI.</a:t>
            </a:r>
            <a:endParaRPr lang="en-US" sz="2000" dirty="0"/>
          </a:p>
          <a:p>
            <a:pPr indent="0" marL="0">
              <a:spcAft>
                <a:spcPts val="300"/>
              </a:spcAft>
              <a:buNone/>
            </a:pPr>
            <a:r>
              <a:rPr lang="en-US" sz="1250" dirty="0">
                <a:solidFill>
                  <a:schemeClr val="accent5"/>
                </a:solidFill>
              </a:rPr>
              <a:t>Milestones with their tests, model, effort and status.</a:t>
            </a:r>
            <a:endParaRPr lang="en-US" sz="2000" dirty="0"/>
          </a:p>
        </p:txBody>
      </p:sp>
      <p:sp>
        <p:nvSpPr>
          <p:cNvPr id="10" name="Skill tag"/>
          <p:cNvSpPr txBox="1"/>
          <p:nvPr/>
        </p:nvSpPr>
        <p:spPr>
          <a:xfrm>
            <a:off x="548640" y="4023360"/>
            <a:ext cx="4296066" cy="329184"/>
          </a:xfrm>
          <a:prstGeom prst="roundRect">
            <a:avLst>
              <a:gd name="adj" fmla="val 22222"/>
            </a:avLst>
          </a:prstGeom>
          <a:solidFill>
            <a:schemeClr val="accent3"/>
          </a:solidFill>
          <a:ln/>
        </p:spPr>
        <p:txBody>
          <a:bodyPr wrap="square" lIns="50800" tIns="50800" rIns="50800" bIns="50800" rtlCol="0" anchor="ctr"/>
          <a:lstStyle/>
          <a:p>
            <a:pPr algn="ctr" indent="0" marL="0">
              <a:buNone/>
            </a:pPr>
            <a:r>
              <a:rPr lang="en-US" sz="1050" b="1" spc="200" kern="0" dirty="0">
                <a:solidFill>
                  <a:schemeClr val="accent1"/>
                </a:solidFill>
              </a:rPr>
              <a:t>SKILL  </a:t>
            </a:r>
            <a:pPr algn="ctr" indent="0" marL="0">
              <a:buNone/>
            </a:pPr>
            <a:r>
              <a:rPr lang="en-US" sz="1400" dirty="0">
                <a:solidFill>
                  <a:schemeClr val="tx2"/>
                </a:solidFill>
                <a:latin typeface="Consolas" pitchFamily="34" charset="0"/>
                <a:ea typeface="Consolas" pitchFamily="34" charset="-122"/>
                <a:cs typeface="Consolas" pitchFamily="34" charset="-120"/>
              </a:rPr>
              <a:t>/write-spec</a:t>
            </a:r>
            <a:endParaRPr lang="en-US" sz="1050" dirty="0"/>
          </a:p>
        </p:txBody>
      </p:sp>
      <p:sp>
        <p:nvSpPr>
          <p:cNvPr id="11" name="Skill tag"/>
          <p:cNvSpPr txBox="1"/>
          <p:nvPr/>
        </p:nvSpPr>
        <p:spPr>
          <a:xfrm>
            <a:off x="5173890" y="4023360"/>
            <a:ext cx="3068619" cy="329184"/>
          </a:xfrm>
          <a:prstGeom prst="roundRect">
            <a:avLst>
              <a:gd name="adj" fmla="val 22222"/>
            </a:avLst>
          </a:prstGeom>
          <a:solidFill>
            <a:schemeClr val="accent3"/>
          </a:solidFill>
          <a:ln/>
        </p:spPr>
        <p:txBody>
          <a:bodyPr wrap="square" lIns="50800" tIns="50800" rIns="50800" bIns="50800" rtlCol="0" anchor="ctr"/>
          <a:lstStyle/>
          <a:p>
            <a:pPr algn="ctr" indent="0" marL="0">
              <a:buNone/>
            </a:pPr>
            <a:r>
              <a:rPr lang="en-US" sz="1050" b="1" spc="200" kern="0" dirty="0">
                <a:solidFill>
                  <a:schemeClr val="accent1"/>
                </a:solidFill>
              </a:rPr>
              <a:t>SKILL  </a:t>
            </a:r>
            <a:pPr algn="ctr" indent="0" marL="0">
              <a:buNone/>
            </a:pPr>
            <a:r>
              <a:rPr lang="en-US" sz="1400" dirty="0">
                <a:solidFill>
                  <a:schemeClr val="tx2"/>
                </a:solidFill>
                <a:latin typeface="Consolas" pitchFamily="34" charset="0"/>
                <a:ea typeface="Consolas" pitchFamily="34" charset="-122"/>
                <a:cs typeface="Consolas" pitchFamily="34" charset="-120"/>
              </a:rPr>
              <a:t>/write-design</a:t>
            </a:r>
            <a:endParaRPr lang="en-US" sz="1050" dirty="0"/>
          </a:p>
        </p:txBody>
      </p:sp>
      <p:sp>
        <p:nvSpPr>
          <p:cNvPr id="12" name="Skill tag"/>
          <p:cNvSpPr txBox="1"/>
          <p:nvPr/>
        </p:nvSpPr>
        <p:spPr>
          <a:xfrm>
            <a:off x="8571693" y="4023360"/>
            <a:ext cx="3068619" cy="329184"/>
          </a:xfrm>
          <a:prstGeom prst="roundRect">
            <a:avLst>
              <a:gd name="adj" fmla="val 22222"/>
            </a:avLst>
          </a:prstGeom>
          <a:solidFill>
            <a:schemeClr val="accent3"/>
          </a:solidFill>
          <a:ln/>
        </p:spPr>
        <p:txBody>
          <a:bodyPr wrap="square" lIns="50800" tIns="50800" rIns="50800" bIns="50800" rtlCol="0" anchor="ctr"/>
          <a:lstStyle/>
          <a:p>
            <a:pPr algn="ctr" indent="0" marL="0">
              <a:buNone/>
            </a:pPr>
            <a:r>
              <a:rPr lang="en-US" sz="1050" b="1" spc="200" kern="0" dirty="0">
                <a:solidFill>
                  <a:schemeClr val="accent1"/>
                </a:solidFill>
              </a:rPr>
              <a:t>SKILL  </a:t>
            </a:r>
            <a:pPr algn="ctr" indent="0" marL="0">
              <a:buNone/>
            </a:pPr>
            <a:r>
              <a:rPr lang="en-US" sz="1400" dirty="0">
                <a:solidFill>
                  <a:schemeClr val="tx2"/>
                </a:solidFill>
                <a:latin typeface="Consolas" pitchFamily="34" charset="0"/>
                <a:ea typeface="Consolas" pitchFamily="34" charset="-122"/>
                <a:cs typeface="Consolas" pitchFamily="34" charset="-120"/>
              </a:rPr>
              <a:t>/write-plan</a:t>
            </a:r>
            <a:endParaRPr lang="en-US" sz="1050" dirty="0"/>
          </a:p>
        </p:txBody>
      </p:sp>
      <p:sp>
        <p:nvSpPr>
          <p:cNvPr id="13" name="File tag"/>
          <p:cNvSpPr txBox="1"/>
          <p:nvPr/>
        </p:nvSpPr>
        <p:spPr>
          <a:xfrm>
            <a:off x="548640" y="4443984"/>
            <a:ext cx="4296066" cy="329184"/>
          </a:xfrm>
          <a:prstGeom prst="roundRect">
            <a:avLst>
              <a:gd name="adj" fmla="val 22222"/>
            </a:avLst>
          </a:prstGeom>
          <a:solidFill>
            <a:schemeClr val="accent3"/>
          </a:solidFill>
          <a:ln/>
        </p:spPr>
        <p:txBody>
          <a:bodyPr wrap="square" lIns="50800" tIns="50800" rIns="50800" bIns="50800" rtlCol="0" anchor="ctr"/>
          <a:lstStyle/>
          <a:p>
            <a:pPr algn="ctr" indent="0" marL="0">
              <a:buNone/>
            </a:pPr>
            <a:r>
              <a:rPr lang="en-US" sz="1050" b="1" spc="200" kern="0" dirty="0">
                <a:solidFill>
                  <a:schemeClr val="accent1"/>
                </a:solidFill>
              </a:rPr>
              <a:t>FILE  </a:t>
            </a:r>
            <a:pPr algn="ctr" indent="0" marL="0">
              <a:buNone/>
            </a:pPr>
            <a:r>
              <a:rPr lang="en-US" sz="1400" dirty="0">
                <a:solidFill>
                  <a:schemeClr val="tx2"/>
                </a:solidFill>
                <a:latin typeface="Consolas" pitchFamily="34" charset="0"/>
                <a:ea typeface="Consolas" pitchFamily="34" charset="-122"/>
                <a:cs typeface="Consolas" pitchFamily="34" charset="-120"/>
              </a:rPr>
              <a:t>docs/spec.md</a:t>
            </a:r>
            <a:endParaRPr lang="en-US" sz="1050" dirty="0"/>
          </a:p>
        </p:txBody>
      </p:sp>
      <p:sp>
        <p:nvSpPr>
          <p:cNvPr id="14" name="File tag"/>
          <p:cNvSpPr txBox="1"/>
          <p:nvPr/>
        </p:nvSpPr>
        <p:spPr>
          <a:xfrm>
            <a:off x="5173890" y="4443984"/>
            <a:ext cx="3068619" cy="329184"/>
          </a:xfrm>
          <a:prstGeom prst="roundRect">
            <a:avLst>
              <a:gd name="adj" fmla="val 22222"/>
            </a:avLst>
          </a:prstGeom>
          <a:solidFill>
            <a:schemeClr val="accent3"/>
          </a:solidFill>
          <a:ln/>
        </p:spPr>
        <p:txBody>
          <a:bodyPr wrap="square" lIns="50800" tIns="50800" rIns="50800" bIns="50800" rtlCol="0" anchor="ctr"/>
          <a:lstStyle/>
          <a:p>
            <a:pPr algn="ctr" indent="0" marL="0">
              <a:buNone/>
            </a:pPr>
            <a:r>
              <a:rPr lang="en-US" sz="1050" b="1" spc="200" kern="0" dirty="0">
                <a:solidFill>
                  <a:schemeClr val="accent1"/>
                </a:solidFill>
              </a:rPr>
              <a:t>FILE  </a:t>
            </a:r>
            <a:pPr algn="ctr" indent="0" marL="0">
              <a:buNone/>
            </a:pPr>
            <a:r>
              <a:rPr lang="en-US" sz="1400" dirty="0">
                <a:solidFill>
                  <a:schemeClr val="tx2"/>
                </a:solidFill>
                <a:latin typeface="Consolas" pitchFamily="34" charset="0"/>
                <a:ea typeface="Consolas" pitchFamily="34" charset="-122"/>
                <a:cs typeface="Consolas" pitchFamily="34" charset="-120"/>
              </a:rPr>
              <a:t>docs/design.md</a:t>
            </a:r>
            <a:endParaRPr lang="en-US" sz="1050" dirty="0"/>
          </a:p>
        </p:txBody>
      </p:sp>
      <p:sp>
        <p:nvSpPr>
          <p:cNvPr id="15" name="File tag"/>
          <p:cNvSpPr txBox="1"/>
          <p:nvPr/>
        </p:nvSpPr>
        <p:spPr>
          <a:xfrm>
            <a:off x="8571693" y="4443984"/>
            <a:ext cx="3068619" cy="329184"/>
          </a:xfrm>
          <a:prstGeom prst="roundRect">
            <a:avLst>
              <a:gd name="adj" fmla="val 22222"/>
            </a:avLst>
          </a:prstGeom>
          <a:solidFill>
            <a:schemeClr val="accent3"/>
          </a:solidFill>
          <a:ln/>
        </p:spPr>
        <p:txBody>
          <a:bodyPr wrap="square" lIns="50800" tIns="50800" rIns="50800" bIns="50800" rtlCol="0" anchor="ctr"/>
          <a:lstStyle/>
          <a:p>
            <a:pPr algn="ctr" indent="0" marL="0">
              <a:buNone/>
            </a:pPr>
            <a:r>
              <a:rPr lang="en-US" sz="1050" b="1" spc="200" kern="0" dirty="0">
                <a:solidFill>
                  <a:schemeClr val="accent1"/>
                </a:solidFill>
              </a:rPr>
              <a:t>FILE  </a:t>
            </a:r>
            <a:pPr algn="ctr" indent="0" marL="0">
              <a:buNone/>
            </a:pPr>
            <a:r>
              <a:rPr lang="en-US" sz="1400" dirty="0">
                <a:solidFill>
                  <a:schemeClr val="tx2"/>
                </a:solidFill>
                <a:latin typeface="Consolas" pitchFamily="34" charset="0"/>
                <a:ea typeface="Consolas" pitchFamily="34" charset="-122"/>
                <a:cs typeface="Consolas" pitchFamily="34" charset="-120"/>
              </a:rPr>
              <a:t>docs/plan.md</a:t>
            </a:r>
            <a:endParaRPr lang="en-US" sz="1050" dirty="0"/>
          </a:p>
        </p:txBody>
      </p:sp>
      <p:sp>
        <p:nvSpPr>
          <p:cNvPr id="16" name="One fact card"/>
          <p:cNvSpPr txBox="1"/>
          <p:nvPr/>
        </p:nvSpPr>
        <p:spPr>
          <a:xfrm>
            <a:off x="548640" y="4937760"/>
            <a:ext cx="6903720" cy="1371600"/>
          </a:xfrm>
          <a:prstGeom prst="roundRect">
            <a:avLst>
              <a:gd name="adj" fmla="val 6667"/>
            </a:avLst>
          </a:prstGeom>
          <a:solidFill>
            <a:schemeClr val="bg1"/>
          </a:solidFill>
          <a:ln w="9525">
            <a:solidFill>
              <a:schemeClr val="accent4"/>
            </a:solidFill>
          </a:ln>
        </p:spPr>
        <p:txBody>
          <a:bodyPr wrap="square" lIns="88900" tIns="152400" rIns="152400" bIns="88900" rtlCol="0" anchor="t"/>
          <a:lstStyle/>
          <a:p>
            <a:pPr indent="0" marL="0">
              <a:spcAft>
                <a:spcPts val="200"/>
              </a:spcAft>
              <a:buNone/>
            </a:pPr>
            <a:r>
              <a:rPr lang="en-US" sz="1400" b="1" dirty="0">
                <a:solidFill>
                  <a:schemeClr val="tx2"/>
                </a:solidFill>
              </a:rPr>
              <a:t>One fact, one file</a:t>
            </a:r>
            <a:endParaRPr lang="en-US" sz="1400" dirty="0"/>
          </a:p>
          <a:p>
            <a:pPr marL="342900" indent="-342900">
              <a:buSzPct val="100000"/>
              <a:buChar char="•"/>
            </a:pPr>
            <a:r>
              <a:rPr lang="en-US" sz="1200" dirty="0">
                <a:solidFill>
                  <a:schemeClr val="accent5"/>
                </a:solidFill>
              </a:rPr>
              <a:t>Each fact is written in one place only. Other files point to it by ID instead of copying it.</a:t>
            </a:r>
            <a:endParaRPr lang="en-US" sz="1400" dirty="0"/>
          </a:p>
          <a:p>
            <a:pPr marL="342900" indent="-342900">
              <a:buSzPct val="100000"/>
              <a:buChar char="•"/>
            </a:pPr>
            <a:r>
              <a:rPr lang="en-US" sz="1200" dirty="0">
                <a:solidFill>
                  <a:schemeClr val="accent5"/>
                </a:solidFill>
              </a:rPr>
              <a:t>A finished milestone is deleted from the plan. Git history keeps the record.</a:t>
            </a:r>
            <a:endParaRPr lang="en-US" sz="1400" dirty="0"/>
          </a:p>
          <a:p>
            <a:pPr marL="342900" indent="-342900">
              <a:buSzPct val="100000"/>
              <a:buChar char="•"/>
            </a:pPr>
            <a:r>
              <a:rPr lang="en-US" sz="1200" b="1" dirty="0">
                <a:solidFill>
                  <a:schemeClr val="accent5"/>
                </a:solidFill>
              </a:rPr>
              <a:t>Benefit:</a:t>
            </a:r>
            <a:pPr indent="0" marL="0">
              <a:buNone/>
            </a:pPr>
            <a:r>
              <a:rPr lang="en-US" sz="1200" dirty="0">
                <a:solidFill>
                  <a:schemeClr val="accent5"/>
                </a:solidFill>
              </a:rPr>
              <a:t> the files can't contradict each other, and the AI reads only what is still true and still to do.</a:t>
            </a:r>
            <a:endParaRPr lang="en-US" sz="1400" dirty="0"/>
          </a:p>
        </p:txBody>
      </p:sp>
      <p:sp>
        <p:nvSpPr>
          <p:cNvPr id="17" name="By hand card"/>
          <p:cNvSpPr txBox="1"/>
          <p:nvPr/>
        </p:nvSpPr>
        <p:spPr>
          <a:xfrm>
            <a:off x="7680960" y="4937760"/>
            <a:ext cx="3959352" cy="1371600"/>
          </a:xfrm>
          <a:prstGeom prst="roundRect">
            <a:avLst>
              <a:gd name="adj" fmla="val 6667"/>
            </a:avLst>
          </a:prstGeom>
          <a:solidFill>
            <a:schemeClr val="bg1"/>
          </a:solidFill>
          <a:ln w="9525">
            <a:solidFill>
              <a:schemeClr val="accent4"/>
            </a:solidFill>
          </a:ln>
        </p:spPr>
        <p:txBody>
          <a:bodyPr wrap="square" lIns="88900" tIns="152400" rIns="152400" bIns="88900" rtlCol="0" anchor="t"/>
          <a:lstStyle/>
          <a:p>
            <a:pPr indent="0" marL="0">
              <a:spcAft>
                <a:spcPts val="200"/>
              </a:spcAft>
              <a:buNone/>
            </a:pPr>
            <a:r>
              <a:rPr lang="en-US" sz="1400" b="1" dirty="0">
                <a:solidFill>
                  <a:schemeClr val="tx2"/>
                </a:solidFill>
              </a:rPr>
              <a:t>Works by hand too</a:t>
            </a:r>
            <a:endParaRPr lang="en-US" sz="1400" dirty="0"/>
          </a:p>
          <a:p>
            <a:pPr marL="342900" indent="-342900">
              <a:buSzPct val="100000"/>
              <a:buChar char="•"/>
            </a:pPr>
            <a:r>
              <a:rPr lang="en-US" sz="1200" dirty="0">
                <a:solidFill>
                  <a:schemeClr val="accent5"/>
                </a:solidFill>
              </a:rPr>
              <a:t>Any AI chat, or a person with a text editor.</a:t>
            </a:r>
            <a:endParaRPr lang="en-US" sz="1400" dirty="0"/>
          </a:p>
          <a:p>
            <a:pPr marL="342900" indent="-342900">
              <a:buSzPct val="100000"/>
              <a:buChar char="•"/>
            </a:pPr>
            <a:r>
              <a:rPr lang="en-US" sz="1200" dirty="0">
                <a:solidFill>
                  <a:schemeClr val="accent5"/>
                </a:solidFill>
              </a:rPr>
              <a:t>The method is the documents, not the tool.</a:t>
            </a:r>
            <a:endParaRPr lang="en-US" sz="1400" dirty="0"/>
          </a:p>
        </p:txBody>
      </p:sp>
      <p:sp>
        <p:nvSpPr>
          <p:cNvPr id="25" name="Slide Number Placeholder 0"/>
          <p:cNvSpPr>
            <a:spLocks noGrp="1"/>
          </p:cNvSpPr>
          <p:nvPr>
            <p:ph type="sldNum" sz="quarter" idx="4294967295"/>
          </p:nvPr>
        </p:nvSpPr>
        <p:spPr>
          <a:xfrm>
            <a:off x="10972800" y="6446520"/>
            <a:ext cx="667512"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Kicker"/>
          <p:cNvSpPr txBox="1"/>
          <p:nvPr/>
        </p:nvSpPr>
        <p:spPr>
          <a:xfrm>
            <a:off x="548640" y="274320"/>
            <a:ext cx="8229600" cy="256032"/>
          </a:xfrm>
          <a:prstGeom prst="rect">
            <a:avLst/>
          </a:prstGeom>
          <a:noFill/>
          <a:ln/>
        </p:spPr>
        <p:txBody>
          <a:bodyPr wrap="square" lIns="0" tIns="0" rIns="0" bIns="0" rtlCol="0" anchor="ctr"/>
          <a:lstStyle/>
          <a:p>
            <a:pPr indent="0" marL="0">
              <a:buNone/>
            </a:pPr>
            <a:r>
              <a:rPr lang="en-US" sz="1200" b="1" spc="300" kern="0" dirty="0">
                <a:solidFill>
                  <a:schemeClr val="accent1"/>
                </a:solidFill>
              </a:rPr>
              <a:t>THE BENEFITS</a:t>
            </a:r>
            <a:endParaRPr lang="en-US" sz="1200" dirty="0"/>
          </a:p>
        </p:txBody>
      </p:sp>
      <p:sp>
        <p:nvSpPr>
          <p:cNvPr id="3" name="Text 0"/>
          <p:cNvSpPr/>
          <p:nvPr>
            <p:ph idx="100" type="title" hasCustomPrompt="1"/>
          </p:nvPr>
        </p:nvSpPr>
        <p:spPr>
          <a:xfrm>
            <a:off x="548640" y="566928"/>
            <a:ext cx="11091672" cy="594360"/>
          </a:xfrm>
          <a:prstGeom prst="rect">
            <a:avLst/>
          </a:prstGeom>
          <a:noFill/>
          <a:ln/>
        </p:spPr>
        <p:txBody>
          <a:bodyPr wrap="square" lIns="0" tIns="0" rIns="0" bIns="0" rtlCol="0" anchor="t"/>
          <a:lstStyle/>
          <a:p>
            <a:pPr algn="l" indent="0" marL="0">
              <a:buNone/>
            </a:pPr>
            <a:r>
              <a:rPr lang="en-US" sz="2800" b="1" dirty="0">
                <a:solidFill>
                  <a:schemeClr val="tx2"/>
                </a:solidFill>
              </a:rPr>
              <a:t>Why this workflow works</a:t>
            </a:r>
            <a:endParaRPr lang="en-US" sz="2800" dirty="0"/>
          </a:p>
        </p:txBody>
      </p:sp>
      <p:sp>
        <p:nvSpPr>
          <p:cNvPr id="4" name="Benefit 1"/>
          <p:cNvSpPr txBox="1"/>
          <p:nvPr/>
        </p:nvSpPr>
        <p:spPr>
          <a:xfrm>
            <a:off x="548640" y="1280160"/>
            <a:ext cx="3544824" cy="2423160"/>
          </a:xfrm>
          <a:prstGeom prst="roundRect">
            <a:avLst>
              <a:gd name="adj" fmla="val 3774"/>
            </a:avLst>
          </a:prstGeom>
          <a:solidFill>
            <a:schemeClr val="bg1"/>
          </a:solidFill>
          <a:ln w="9525">
            <a:solidFill>
              <a:schemeClr val="accent4"/>
            </a:solidFill>
          </a:ln>
        </p:spPr>
        <p:txBody>
          <a:bodyPr wrap="square" lIns="127000" tIns="177800" rIns="177800" bIns="101600" rtlCol="0" anchor="t"/>
          <a:lstStyle/>
          <a:p>
            <a:pPr indent="0" marL="0">
              <a:spcAft>
                <a:spcPts val="600"/>
              </a:spcAft>
              <a:buNone/>
            </a:pPr>
            <a:r>
              <a:rPr lang="en-US" sz="1700" b="1" dirty="0">
                <a:solidFill>
                  <a:schemeClr val="tx2"/>
                </a:solidFill>
              </a:rPr>
              <a:t>It protects the architecture</a:t>
            </a:r>
            <a:endParaRPr lang="en-US" sz="1700" dirty="0"/>
          </a:p>
          <a:p>
            <a:pPr marL="342900" indent="-342900">
              <a:spcAft>
                <a:spcPts val="400"/>
              </a:spcAft>
              <a:buSzPct val="100000"/>
              <a:buChar char="•"/>
            </a:pPr>
            <a:r>
              <a:rPr lang="en-US" sz="1350" dirty="0">
                <a:solidFill>
                  <a:schemeClr val="accent5"/>
                </a:solidFill>
              </a:rPr>
              <a:t>At Basecamp, each vibe-coded PR looked fine alone; together they </a:t>
            </a:r>
            <a:pPr indent="0" marL="0">
              <a:buNone/>
            </a:pPr>
            <a:r>
              <a:rPr lang="en-US" sz="1350" i="1" dirty="0">
                <a:solidFill>
                  <a:schemeClr val="accent5"/>
                </a:solidFill>
              </a:rPr>
              <a:t>“destroyed the architecture of the system”</a:t>
            </a:r>
            <a:pPr indent="0" marL="0">
              <a:buNone/>
            </a:pPr>
            <a:r>
              <a:rPr lang="en-US" sz="1350" dirty="0">
                <a:solidFill>
                  <a:schemeClr val="accent5"/>
                </a:solidFill>
              </a:rPr>
              <a:t> (DHH).</a:t>
            </a:r>
            <a:endParaRPr lang="en-US" sz="1700" dirty="0"/>
          </a:p>
          <a:p>
            <a:pPr marL="342900" indent="-342900">
              <a:spcAft>
                <a:spcPts val="400"/>
              </a:spcAft>
              <a:buSzPct val="100000"/>
              <a:buChar char="•"/>
            </a:pPr>
            <a:r>
              <a:rPr lang="en-US" sz="1350" dirty="0">
                <a:solidFill>
                  <a:schemeClr val="accent5"/>
                </a:solidFill>
              </a:rPr>
              <a:t>A human owns the spec and the design, so the AI builds inside a shape someone chose.</a:t>
            </a:r>
            <a:endParaRPr lang="en-US" sz="1700" dirty="0"/>
          </a:p>
        </p:txBody>
      </p:sp>
      <p:sp>
        <p:nvSpPr>
          <p:cNvPr id="5" name="Benefit 2"/>
          <p:cNvSpPr txBox="1"/>
          <p:nvPr/>
        </p:nvSpPr>
        <p:spPr>
          <a:xfrm>
            <a:off x="4322064" y="1280160"/>
            <a:ext cx="3544824" cy="2423160"/>
          </a:xfrm>
          <a:prstGeom prst="roundRect">
            <a:avLst>
              <a:gd name="adj" fmla="val 3774"/>
            </a:avLst>
          </a:prstGeom>
          <a:solidFill>
            <a:schemeClr val="bg1"/>
          </a:solidFill>
          <a:ln w="9525">
            <a:solidFill>
              <a:schemeClr val="accent4"/>
            </a:solidFill>
          </a:ln>
        </p:spPr>
        <p:txBody>
          <a:bodyPr wrap="square" lIns="127000" tIns="177800" rIns="177800" bIns="101600" rtlCol="0" anchor="t"/>
          <a:lstStyle/>
          <a:p>
            <a:pPr indent="0" marL="0">
              <a:spcAft>
                <a:spcPts val="600"/>
              </a:spcAft>
              <a:buNone/>
            </a:pPr>
            <a:r>
              <a:rPr lang="en-US" sz="1700" b="1" dirty="0">
                <a:solidFill>
                  <a:schemeClr val="tx2"/>
                </a:solidFill>
              </a:rPr>
              <a:t>Human judgment goes where it counts</a:t>
            </a:r>
            <a:endParaRPr lang="en-US" sz="1700" dirty="0"/>
          </a:p>
          <a:p>
            <a:pPr marL="342900" indent="-342900">
              <a:spcAft>
                <a:spcPts val="400"/>
              </a:spcAft>
              <a:buSzPct val="100000"/>
              <a:buChar char="•"/>
            </a:pPr>
            <a:r>
              <a:rPr lang="en-US" sz="1350" dirty="0">
                <a:solidFill>
                  <a:schemeClr val="accent5"/>
                </a:solidFill>
              </a:rPr>
              <a:t>Agents are diligent: they write tests and check their work when told to.</a:t>
            </a:r>
            <a:endParaRPr lang="en-US" sz="1700" dirty="0"/>
          </a:p>
          <a:p>
            <a:pPr marL="342900" indent="-342900">
              <a:spcAft>
                <a:spcPts val="400"/>
              </a:spcAft>
              <a:buSzPct val="100000"/>
              <a:buChar char="•"/>
            </a:pPr>
            <a:r>
              <a:rPr lang="en-US" sz="1350" dirty="0">
                <a:solidFill>
                  <a:schemeClr val="accent5"/>
                </a:solidFill>
              </a:rPr>
              <a:t>Taste, and the experience to know which complexity will hurt in two years, stay human. The AI gets the large, easy-to-delegate part: implementation.</a:t>
            </a:r>
            <a:endParaRPr lang="en-US" sz="1700" dirty="0"/>
          </a:p>
        </p:txBody>
      </p:sp>
      <p:sp>
        <p:nvSpPr>
          <p:cNvPr id="6" name="Benefit 3"/>
          <p:cNvSpPr txBox="1"/>
          <p:nvPr/>
        </p:nvSpPr>
        <p:spPr>
          <a:xfrm>
            <a:off x="8095488" y="1280160"/>
            <a:ext cx="3544824" cy="2423160"/>
          </a:xfrm>
          <a:prstGeom prst="roundRect">
            <a:avLst>
              <a:gd name="adj" fmla="val 3774"/>
            </a:avLst>
          </a:prstGeom>
          <a:solidFill>
            <a:schemeClr val="bg1"/>
          </a:solidFill>
          <a:ln w="9525">
            <a:solidFill>
              <a:schemeClr val="accent4"/>
            </a:solidFill>
          </a:ln>
        </p:spPr>
        <p:txBody>
          <a:bodyPr wrap="square" lIns="127000" tIns="177800" rIns="177800" bIns="101600" rtlCol="0" anchor="t"/>
          <a:lstStyle/>
          <a:p>
            <a:pPr indent="0" marL="0">
              <a:spcAft>
                <a:spcPts val="600"/>
              </a:spcAft>
              <a:buNone/>
            </a:pPr>
            <a:r>
              <a:rPr lang="en-US" sz="1700" b="1" dirty="0">
                <a:solidFill>
                  <a:schemeClr val="tx2"/>
                </a:solidFill>
              </a:rPr>
              <a:t>Simple design pays twice</a:t>
            </a:r>
            <a:endParaRPr lang="en-US" sz="1700" dirty="0"/>
          </a:p>
          <a:p>
            <a:pPr indent="0" marL="0">
              <a:spcAft>
                <a:spcPts val="400"/>
              </a:spcAft>
              <a:buNone/>
            </a:pPr>
            <a:r>
              <a:rPr lang="en-US" sz="1350" dirty="0">
                <a:solidFill>
                  <a:schemeClr val="accent5"/>
                </a:solidFill>
              </a:rPr>
              <a:t>Clean design was always cheaper to change. Now agents also work cheaper, and make fewer mistakes, in a system they can grasp.</a:t>
            </a:r>
            <a:endParaRPr lang="en-US" sz="1700" dirty="0"/>
          </a:p>
        </p:txBody>
      </p:sp>
      <p:sp>
        <p:nvSpPr>
          <p:cNvPr id="7" name="Benefit 4"/>
          <p:cNvSpPr txBox="1"/>
          <p:nvPr/>
        </p:nvSpPr>
        <p:spPr>
          <a:xfrm>
            <a:off x="548640" y="3886200"/>
            <a:ext cx="3544824" cy="2423160"/>
          </a:xfrm>
          <a:prstGeom prst="roundRect">
            <a:avLst>
              <a:gd name="adj" fmla="val 3774"/>
            </a:avLst>
          </a:prstGeom>
          <a:solidFill>
            <a:schemeClr val="bg1"/>
          </a:solidFill>
          <a:ln w="9525">
            <a:solidFill>
              <a:schemeClr val="accent4"/>
            </a:solidFill>
          </a:ln>
        </p:spPr>
        <p:txBody>
          <a:bodyPr wrap="square" lIns="127000" tIns="177800" rIns="177800" bIns="101600" rtlCol="0" anchor="t"/>
          <a:lstStyle/>
          <a:p>
            <a:pPr indent="0" marL="0">
              <a:spcAft>
                <a:spcPts val="600"/>
              </a:spcAft>
              <a:buNone/>
            </a:pPr>
            <a:r>
              <a:rPr lang="en-US" sz="1700" b="1" dirty="0">
                <a:solidFill>
                  <a:schemeClr val="tx2"/>
                </a:solidFill>
              </a:rPr>
              <a:t>One fact, one file</a:t>
            </a:r>
            <a:endParaRPr lang="en-US" sz="1700" dirty="0"/>
          </a:p>
          <a:p>
            <a:pPr indent="0" marL="0">
              <a:spcAft>
                <a:spcPts val="400"/>
              </a:spcAft>
              <a:buNone/>
            </a:pPr>
            <a:r>
              <a:rPr lang="en-US" sz="1350" dirty="0">
                <a:solidFill>
                  <a:schemeClr val="accent5"/>
                </a:solidFill>
              </a:rPr>
              <a:t>Plain text in the repo works for a person and for an agent. No tool or platform needed, and Git remembers the history.</a:t>
            </a:r>
            <a:endParaRPr lang="en-US" sz="1700" dirty="0"/>
          </a:p>
        </p:txBody>
      </p:sp>
      <p:sp>
        <p:nvSpPr>
          <p:cNvPr id="8" name="Benefit 5"/>
          <p:cNvSpPr txBox="1"/>
          <p:nvPr/>
        </p:nvSpPr>
        <p:spPr>
          <a:xfrm>
            <a:off x="4322064" y="3886200"/>
            <a:ext cx="3544824" cy="2423160"/>
          </a:xfrm>
          <a:prstGeom prst="roundRect">
            <a:avLst>
              <a:gd name="adj" fmla="val 3774"/>
            </a:avLst>
          </a:prstGeom>
          <a:solidFill>
            <a:schemeClr val="bg1"/>
          </a:solidFill>
          <a:ln w="9525">
            <a:solidFill>
              <a:schemeClr val="accent4"/>
            </a:solidFill>
          </a:ln>
        </p:spPr>
        <p:txBody>
          <a:bodyPr wrap="square" lIns="127000" tIns="177800" rIns="177800" bIns="101600" rtlCol="0" anchor="t"/>
          <a:lstStyle/>
          <a:p>
            <a:pPr indent="0" marL="0">
              <a:spcAft>
                <a:spcPts val="600"/>
              </a:spcAft>
              <a:buNone/>
            </a:pPr>
            <a:r>
              <a:rPr lang="en-US" sz="1700" b="1" dirty="0">
                <a:solidFill>
                  <a:schemeClr val="tx2"/>
                </a:solidFill>
              </a:rPr>
              <a:t>Small steps you can check</a:t>
            </a:r>
            <a:endParaRPr lang="en-US" sz="1700" dirty="0"/>
          </a:p>
          <a:p>
            <a:pPr indent="0" marL="0">
              <a:spcAft>
                <a:spcPts val="400"/>
              </a:spcAft>
              <a:buNone/>
            </a:pPr>
            <a:r>
              <a:rPr lang="en-US" sz="1350" dirty="0">
                <a:solidFill>
                  <a:schemeClr val="accent5"/>
                </a:solidFill>
              </a:rPr>
              <a:t>Milestones with their own tests: you review a small diff against a stated intent. Mediocre work stacked on mediocre work turns into a ball of mud; small tested steps stop that from compounding.</a:t>
            </a:r>
            <a:endParaRPr lang="en-US" sz="1700" dirty="0"/>
          </a:p>
        </p:txBody>
      </p:sp>
      <p:sp>
        <p:nvSpPr>
          <p:cNvPr id="9" name="Benefit 6"/>
          <p:cNvSpPr txBox="1"/>
          <p:nvPr/>
        </p:nvSpPr>
        <p:spPr>
          <a:xfrm>
            <a:off x="8095488" y="3886200"/>
            <a:ext cx="3544824" cy="2423160"/>
          </a:xfrm>
          <a:prstGeom prst="roundRect">
            <a:avLst>
              <a:gd name="adj" fmla="val 3774"/>
            </a:avLst>
          </a:prstGeom>
          <a:solidFill>
            <a:schemeClr val="accent3"/>
          </a:solidFill>
          <a:ln w="9525">
            <a:solidFill>
              <a:schemeClr val="accent3"/>
            </a:solidFill>
          </a:ln>
        </p:spPr>
        <p:txBody>
          <a:bodyPr wrap="square" lIns="127000" tIns="177800" rIns="177800" bIns="101600" rtlCol="0" anchor="t"/>
          <a:lstStyle/>
          <a:p>
            <a:pPr indent="0" marL="0">
              <a:spcAft>
                <a:spcPts val="600"/>
              </a:spcAft>
              <a:buNone/>
            </a:pPr>
            <a:r>
              <a:rPr lang="en-US" sz="1700" b="1" dirty="0">
                <a:solidFill>
                  <a:schemeClr val="tx2"/>
                </a:solidFill>
              </a:rPr>
              <a:t>One warning: do not over-prescribe</a:t>
            </a:r>
            <a:endParaRPr lang="en-US" sz="1700" dirty="0"/>
          </a:p>
          <a:p>
            <a:pPr indent="0" marL="0">
              <a:spcAft>
                <a:spcPts val="400"/>
              </a:spcAft>
              <a:buNone/>
            </a:pPr>
            <a:r>
              <a:rPr lang="en-US" sz="1350" dirty="0">
                <a:solidFill>
                  <a:schemeClr val="tx2"/>
                </a:solidFill>
              </a:rPr>
              <a:t>Keep the spec to what and why, and the design to the load-bearing decisions. An agent can be hurt by overly prescriptive instructions, and within a good frame it often knows best.</a:t>
            </a:r>
            <a:endParaRPr lang="en-US" sz="1700" dirty="0"/>
          </a:p>
        </p:txBody>
      </p:sp>
      <p:sp>
        <p:nvSpPr>
          <p:cNvPr id="25" name="Slide Number Placeholder 0"/>
          <p:cNvSpPr>
            <a:spLocks noGrp="1"/>
          </p:cNvSpPr>
          <p:nvPr>
            <p:ph type="sldNum" sz="quarter" idx="4294967295"/>
          </p:nvPr>
        </p:nvSpPr>
        <p:spPr>
          <a:xfrm>
            <a:off x="10972800" y="6446520"/>
            <a:ext cx="667512"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Kicker"/>
          <p:cNvSpPr txBox="1"/>
          <p:nvPr/>
        </p:nvSpPr>
        <p:spPr>
          <a:xfrm>
            <a:off x="548640" y="274320"/>
            <a:ext cx="8229600" cy="256032"/>
          </a:xfrm>
          <a:prstGeom prst="rect">
            <a:avLst/>
          </a:prstGeom>
          <a:noFill/>
          <a:ln/>
        </p:spPr>
        <p:txBody>
          <a:bodyPr wrap="square" lIns="0" tIns="0" rIns="0" bIns="0" rtlCol="0" anchor="ctr"/>
          <a:lstStyle/>
          <a:p>
            <a:pPr indent="0" marL="0">
              <a:buNone/>
            </a:pPr>
            <a:r>
              <a:rPr lang="en-US" sz="1200" b="1" spc="300" kern="0" dirty="0">
                <a:solidFill>
                  <a:schemeClr val="accent1"/>
                </a:solidFill>
              </a:rPr>
              <a:t>FROM WORKFLOW TO FACTORY</a:t>
            </a:r>
            <a:endParaRPr lang="en-US" sz="1200" dirty="0"/>
          </a:p>
        </p:txBody>
      </p:sp>
      <p:sp>
        <p:nvSpPr>
          <p:cNvPr id="3" name="Text 0"/>
          <p:cNvSpPr/>
          <p:nvPr>
            <p:ph idx="100" type="title" hasCustomPrompt="1"/>
          </p:nvPr>
        </p:nvSpPr>
        <p:spPr>
          <a:xfrm>
            <a:off x="548640" y="566928"/>
            <a:ext cx="11091672" cy="594360"/>
          </a:xfrm>
          <a:prstGeom prst="rect">
            <a:avLst/>
          </a:prstGeom>
          <a:noFill/>
          <a:ln/>
        </p:spPr>
        <p:txBody>
          <a:bodyPr wrap="square" lIns="0" tIns="0" rIns="0" bIns="0" rtlCol="0" anchor="t"/>
          <a:lstStyle/>
          <a:p>
            <a:pPr algn="l" indent="0" marL="0">
              <a:buNone/>
            </a:pPr>
            <a:r>
              <a:rPr lang="en-US" sz="2800" b="1" dirty="0">
                <a:solidFill>
                  <a:schemeClr val="tx2"/>
                </a:solidFill>
              </a:rPr>
              <a:t>The workflow is provided as a skill</a:t>
            </a:r>
            <a:endParaRPr lang="en-US" sz="2800" dirty="0"/>
          </a:p>
        </p:txBody>
      </p:sp>
      <p:sp>
        <p:nvSpPr>
          <p:cNvPr id="4" name="Lead"/>
          <p:cNvSpPr txBox="1"/>
          <p:nvPr/>
        </p:nvSpPr>
        <p:spPr>
          <a:xfrm>
            <a:off x="548640" y="1188720"/>
            <a:ext cx="11091672" cy="320040"/>
          </a:xfrm>
          <a:prstGeom prst="rect">
            <a:avLst/>
          </a:prstGeom>
          <a:noFill/>
          <a:ln/>
        </p:spPr>
        <p:txBody>
          <a:bodyPr wrap="square" lIns="0" tIns="0" rIns="0" bIns="0" rtlCol="0" anchor="t"/>
          <a:lstStyle/>
          <a:p>
            <a:pPr indent="0" marL="0">
              <a:buNone/>
            </a:pPr>
            <a:r>
              <a:rPr lang="en-US" sz="1600" dirty="0">
                <a:solidFill>
                  <a:schemeClr val="accent5"/>
                </a:solidFill>
              </a:rPr>
              <a:t>One command turns an empty folder into a project that already works this way.</a:t>
            </a:r>
            <a:endParaRPr lang="en-US" sz="1600" dirty="0"/>
          </a:p>
        </p:txBody>
      </p:sp>
      <p:sp>
        <p:nvSpPr>
          <p:cNvPr id="5" name="Empty folder card"/>
          <p:cNvSpPr txBox="1"/>
          <p:nvPr/>
        </p:nvSpPr>
        <p:spPr>
          <a:xfrm>
            <a:off x="548640" y="1691640"/>
            <a:ext cx="3453384" cy="1463040"/>
          </a:xfrm>
          <a:prstGeom prst="roundRect">
            <a:avLst>
              <a:gd name="adj" fmla="val 6250"/>
            </a:avLst>
          </a:prstGeom>
          <a:solidFill>
            <a:schemeClr val="bg1"/>
          </a:solidFill>
          <a:ln w="9525">
            <a:solidFill>
              <a:schemeClr val="accent4"/>
            </a:solidFill>
          </a:ln>
        </p:spPr>
        <p:txBody>
          <a:bodyPr wrap="square" lIns="114300" tIns="152400" rIns="152400" bIns="114300" rtlCol="0" anchor="t"/>
          <a:lstStyle/>
          <a:p>
            <a:pPr indent="0" marL="0">
              <a:buNone/>
            </a:pPr>
            <a:r>
              <a:rPr lang="en-US" sz="2000" b="1" dirty="0">
                <a:solidFill>
                  <a:schemeClr val="tx2"/>
                </a:solidFill>
              </a:rPr>
              <a:t>Empty folder</a:t>
            </a:r>
            <a:endParaRPr lang="en-US" sz="2000" dirty="0"/>
          </a:p>
          <a:p>
            <a:pPr indent="0" marL="0">
              <a:spcAft>
                <a:spcPts val="500"/>
              </a:spcAft>
              <a:buNone/>
            </a:pPr>
            <a:r>
              <a:rPr lang="en-US" sz="1300" b="1" dirty="0">
                <a:solidFill>
                  <a:schemeClr val="accent1"/>
                </a:solidFill>
              </a:rPr>
              <a:t>Start</a:t>
            </a:r>
            <a:endParaRPr lang="en-US" sz="2000" dirty="0"/>
          </a:p>
          <a:p>
            <a:pPr indent="0" marL="0">
              <a:buNone/>
            </a:pPr>
            <a:r>
              <a:rPr lang="en-US" sz="1400" dirty="0">
                <a:solidFill>
                  <a:schemeClr val="accent5"/>
                </a:solidFill>
              </a:rPr>
              <a:t>A new project folder, open in VS Code.</a:t>
            </a:r>
            <a:endParaRPr lang="en-US" sz="2000" dirty="0"/>
          </a:p>
        </p:txBody>
      </p:sp>
      <p:sp>
        <p:nvSpPr>
          <p:cNvPr id="6" name="Arrow"/>
          <p:cNvSpPr/>
          <p:nvPr/>
        </p:nvSpPr>
        <p:spPr>
          <a:xfrm>
            <a:off x="4056888" y="2286000"/>
            <a:ext cx="256032" cy="274320"/>
          </a:xfrm>
          <a:prstGeom prst="rightArrow">
            <a:avLst/>
          </a:prstGeom>
          <a:solidFill>
            <a:schemeClr val="accent6"/>
          </a:solidFill>
          <a:ln/>
        </p:spPr>
      </p:sp>
      <p:sp>
        <p:nvSpPr>
          <p:cNvPr id="7" name="project-init card"/>
          <p:cNvSpPr txBox="1"/>
          <p:nvPr/>
        </p:nvSpPr>
        <p:spPr>
          <a:xfrm>
            <a:off x="4367784" y="1691640"/>
            <a:ext cx="3453384" cy="1463040"/>
          </a:xfrm>
          <a:prstGeom prst="roundRect">
            <a:avLst>
              <a:gd name="adj" fmla="val 6250"/>
            </a:avLst>
          </a:prstGeom>
          <a:solidFill>
            <a:schemeClr val="bg1"/>
          </a:solidFill>
          <a:ln w="25400">
            <a:solidFill>
              <a:schemeClr val="accent1"/>
            </a:solidFill>
          </a:ln>
        </p:spPr>
        <p:txBody>
          <a:bodyPr wrap="square" lIns="114300" tIns="152400" rIns="152400" bIns="114300" rtlCol="0" anchor="t"/>
          <a:lstStyle/>
          <a:p>
            <a:pPr indent="0" marL="0">
              <a:buNone/>
            </a:pPr>
            <a:r>
              <a:rPr lang="en-US" sz="2000" b="1" dirty="0">
                <a:solidFill>
                  <a:schemeClr val="tx2"/>
                </a:solidFill>
              </a:rPr>
              <a:t>project-init</a:t>
            </a:r>
            <a:endParaRPr lang="en-US" sz="2000" dirty="0"/>
          </a:p>
          <a:p>
            <a:pPr indent="0" marL="0">
              <a:spcAft>
                <a:spcPts val="500"/>
              </a:spcAft>
              <a:buNone/>
            </a:pPr>
            <a:r>
              <a:rPr lang="en-US" sz="1300" b="1" dirty="0">
                <a:solidFill>
                  <a:schemeClr val="accent1"/>
                </a:solidFill>
              </a:rPr>
              <a:t>The skill</a:t>
            </a:r>
            <a:endParaRPr lang="en-US" sz="2000" dirty="0"/>
          </a:p>
          <a:p>
            <a:pPr indent="0" marL="0">
              <a:buNone/>
            </a:pPr>
            <a:r>
              <a:rPr lang="en-US" sz="1400" dirty="0">
                <a:solidFill>
                  <a:schemeClr val="accent5"/>
                </a:solidFill>
              </a:rPr>
              <a:t>One command. Builds everything from the golden templates.</a:t>
            </a:r>
            <a:endParaRPr lang="en-US" sz="2000" dirty="0"/>
          </a:p>
        </p:txBody>
      </p:sp>
      <p:sp>
        <p:nvSpPr>
          <p:cNvPr id="8" name="Arrow"/>
          <p:cNvSpPr/>
          <p:nvPr/>
        </p:nvSpPr>
        <p:spPr>
          <a:xfrm>
            <a:off x="7876032" y="2286000"/>
            <a:ext cx="256032" cy="274320"/>
          </a:xfrm>
          <a:prstGeom prst="rightArrow">
            <a:avLst/>
          </a:prstGeom>
          <a:solidFill>
            <a:schemeClr val="accent6"/>
          </a:solidFill>
          <a:ln/>
        </p:spPr>
      </p:sp>
      <p:sp>
        <p:nvSpPr>
          <p:cNvPr id="9" name="A project ready to work card"/>
          <p:cNvSpPr txBox="1"/>
          <p:nvPr/>
        </p:nvSpPr>
        <p:spPr>
          <a:xfrm>
            <a:off x="8186928" y="1691640"/>
            <a:ext cx="3453384" cy="1463040"/>
          </a:xfrm>
          <a:prstGeom prst="roundRect">
            <a:avLst>
              <a:gd name="adj" fmla="val 6250"/>
            </a:avLst>
          </a:prstGeom>
          <a:solidFill>
            <a:schemeClr val="bg1"/>
          </a:solidFill>
          <a:ln w="9525">
            <a:solidFill>
              <a:schemeClr val="accent4"/>
            </a:solidFill>
          </a:ln>
        </p:spPr>
        <p:txBody>
          <a:bodyPr wrap="square" lIns="114300" tIns="152400" rIns="152400" bIns="114300" rtlCol="0" anchor="t"/>
          <a:lstStyle/>
          <a:p>
            <a:pPr indent="0" marL="0">
              <a:buNone/>
            </a:pPr>
            <a:r>
              <a:rPr lang="en-US" sz="2000" b="1" dirty="0">
                <a:solidFill>
                  <a:schemeClr val="tx2"/>
                </a:solidFill>
              </a:rPr>
              <a:t>A project ready to work</a:t>
            </a:r>
            <a:endParaRPr lang="en-US" sz="2000" dirty="0"/>
          </a:p>
          <a:p>
            <a:pPr indent="0" marL="0">
              <a:spcAft>
                <a:spcPts val="500"/>
              </a:spcAft>
              <a:buNone/>
            </a:pPr>
            <a:r>
              <a:rPr lang="en-US" sz="1300" b="1" dirty="0">
                <a:solidFill>
                  <a:schemeClr val="accent1"/>
                </a:solidFill>
              </a:rPr>
              <a:t>Result</a:t>
            </a:r>
            <a:endParaRPr lang="en-US" sz="2000" dirty="0"/>
          </a:p>
          <a:p>
            <a:pPr indent="0" marL="0">
              <a:buNone/>
            </a:pPr>
            <a:r>
              <a:rPr lang="en-US" sz="1400" dirty="0">
                <a:solidFill>
                  <a:schemeClr val="accent5"/>
                </a:solidFill>
              </a:rPr>
              <a:t>Pushed to GitHub. Type </a:t>
            </a:r>
            <a:pPr indent="0" marL="0">
              <a:buNone/>
            </a:pPr>
            <a:r>
              <a:rPr lang="en-US" sz="1400" dirty="0">
                <a:solidFill>
                  <a:schemeClr val="accent5"/>
                </a:solidFill>
                <a:latin typeface="Consolas" pitchFamily="34" charset="0"/>
                <a:ea typeface="Consolas" pitchFamily="34" charset="-122"/>
                <a:cs typeface="Consolas" pitchFamily="34" charset="-120"/>
              </a:rPr>
              <a:t>/write-spec</a:t>
            </a:r>
            <a:pPr indent="0" marL="0">
              <a:buNone/>
            </a:pPr>
            <a:r>
              <a:rPr lang="en-US" sz="1400" dirty="0">
                <a:solidFill>
                  <a:schemeClr val="accent5"/>
                </a:solidFill>
              </a:rPr>
              <a:t> to start the first interview.</a:t>
            </a:r>
            <a:endParaRPr lang="en-US" sz="2000" dirty="0"/>
          </a:p>
        </p:txBody>
      </p:sp>
      <p:sp>
        <p:nvSpPr>
          <p:cNvPr id="10" name="Sets up card"/>
          <p:cNvSpPr txBox="1"/>
          <p:nvPr/>
        </p:nvSpPr>
        <p:spPr>
          <a:xfrm>
            <a:off x="548640" y="3429000"/>
            <a:ext cx="5431536" cy="2834640"/>
          </a:xfrm>
          <a:prstGeom prst="roundRect">
            <a:avLst>
              <a:gd name="adj" fmla="val 3226"/>
            </a:avLst>
          </a:prstGeom>
          <a:solidFill>
            <a:schemeClr val="bg1"/>
          </a:solidFill>
          <a:ln w="9525">
            <a:solidFill>
              <a:schemeClr val="accent4"/>
            </a:solidFill>
          </a:ln>
        </p:spPr>
        <p:txBody>
          <a:bodyPr wrap="square" lIns="152400" tIns="203200" rIns="203200" bIns="127000" rtlCol="0" anchor="t"/>
          <a:lstStyle/>
          <a:p>
            <a:pPr indent="0" marL="0">
              <a:spcAft>
                <a:spcPts val="600"/>
              </a:spcAft>
              <a:buNone/>
            </a:pPr>
            <a:r>
              <a:rPr lang="en-US" sz="1800" b="1" dirty="0">
                <a:solidFill>
                  <a:schemeClr val="tx2"/>
                </a:solidFill>
              </a:rPr>
              <a:t>What the skill sets up</a:t>
            </a:r>
            <a:endParaRPr lang="en-US" sz="1800" dirty="0"/>
          </a:p>
          <a:p>
            <a:pPr marL="342900" indent="-342900">
              <a:spcAft>
                <a:spcPts val="600"/>
              </a:spcAft>
              <a:buSzPct val="100000"/>
              <a:buChar char="•"/>
            </a:pPr>
            <a:r>
              <a:rPr lang="en-US" sz="1400" dirty="0">
                <a:solidFill>
                  <a:schemeClr val="accent5"/>
                </a:solidFill>
              </a:rPr>
              <a:t>CLAUDE.md with path-scoped rules; the docs: workflow, spec, design, plan; the </a:t>
            </a:r>
            <a:pPr indent="0" marL="0">
              <a:buNone/>
            </a:pPr>
            <a:r>
              <a:rPr lang="en-US" sz="1400" dirty="0">
                <a:solidFill>
                  <a:schemeClr val="accent5"/>
                </a:solidFill>
                <a:latin typeface="Consolas" pitchFamily="34" charset="0"/>
                <a:ea typeface="Consolas" pitchFamily="34" charset="-122"/>
                <a:cs typeface="Consolas" pitchFamily="34" charset="-120"/>
              </a:rPr>
              <a:t>/write-spec</a:t>
            </a:r>
            <a:pPr indent="0" marL="0">
              <a:buNone/>
            </a:pPr>
            <a:r>
              <a:rPr lang="en-US" sz="1400" dirty="0">
                <a:solidFill>
                  <a:schemeClr val="accent5"/>
                </a:solidFill>
              </a:rPr>
              <a:t>, </a:t>
            </a:r>
            <a:pPr indent="0" marL="0">
              <a:buNone/>
            </a:pPr>
            <a:r>
              <a:rPr lang="en-US" sz="1400" dirty="0">
                <a:solidFill>
                  <a:schemeClr val="accent5"/>
                </a:solidFill>
                <a:latin typeface="Consolas" pitchFamily="34" charset="0"/>
                <a:ea typeface="Consolas" pitchFamily="34" charset="-122"/>
                <a:cs typeface="Consolas" pitchFamily="34" charset="-120"/>
              </a:rPr>
              <a:t>/write-design</a:t>
            </a:r>
            <a:pPr indent="0" marL="0">
              <a:buNone/>
            </a:pPr>
            <a:r>
              <a:rPr lang="en-US" sz="1400" dirty="0">
                <a:solidFill>
                  <a:schemeClr val="accent5"/>
                </a:solidFill>
              </a:rPr>
              <a:t> and </a:t>
            </a:r>
            <a:pPr indent="0" marL="0">
              <a:buNone/>
            </a:pPr>
            <a:r>
              <a:rPr lang="en-US" sz="1400" dirty="0">
                <a:solidFill>
                  <a:schemeClr val="accent5"/>
                </a:solidFill>
                <a:latin typeface="Consolas" pitchFamily="34" charset="0"/>
                <a:ea typeface="Consolas" pitchFamily="34" charset="-122"/>
                <a:cs typeface="Consolas" pitchFamily="34" charset="-120"/>
              </a:rPr>
              <a:t>/write-plan</a:t>
            </a:r>
            <a:pPr indent="0" marL="0">
              <a:buNone/>
            </a:pPr>
            <a:r>
              <a:rPr lang="en-US" sz="1400" dirty="0">
                <a:solidFill>
                  <a:schemeClr val="accent5"/>
                </a:solidFill>
              </a:rPr>
              <a:t> skills; the README.</a:t>
            </a:r>
            <a:endParaRPr lang="en-US" sz="1800" dirty="0"/>
          </a:p>
          <a:p>
            <a:pPr marL="342900" indent="-342900">
              <a:spcAft>
                <a:spcPts val="600"/>
              </a:spcAft>
              <a:buSzPct val="100000"/>
              <a:buChar char="•"/>
            </a:pPr>
            <a:r>
              <a:rPr lang="en-US" sz="1400" dirty="0">
                <a:solidFill>
                  <a:schemeClr val="accent5"/>
                </a:solidFill>
              </a:rPr>
              <a:t>Tool configs, hooks, the milestone runner and the starting folders.</a:t>
            </a:r>
            <a:endParaRPr lang="en-US" sz="1800" dirty="0"/>
          </a:p>
          <a:p>
            <a:pPr marL="342900" indent="-342900">
              <a:buSzPct val="100000"/>
              <a:buChar char="•"/>
            </a:pPr>
            <a:r>
              <a:rPr lang="en-US" sz="1400" dirty="0">
                <a:solidFill>
                  <a:schemeClr val="accent5"/>
                </a:solidFill>
              </a:rPr>
              <a:t>The first commit, the GitHub repository, the push, and a conda environment named after the project.</a:t>
            </a:r>
            <a:endParaRPr lang="en-US" sz="1800" dirty="0"/>
          </a:p>
        </p:txBody>
      </p:sp>
      <p:sp>
        <p:nvSpPr>
          <p:cNvPr id="11" name="Why card"/>
          <p:cNvSpPr txBox="1"/>
          <p:nvPr/>
        </p:nvSpPr>
        <p:spPr>
          <a:xfrm>
            <a:off x="6208776" y="3429000"/>
            <a:ext cx="5431536" cy="2834640"/>
          </a:xfrm>
          <a:prstGeom prst="roundRect">
            <a:avLst>
              <a:gd name="adj" fmla="val 3226"/>
            </a:avLst>
          </a:prstGeom>
          <a:solidFill>
            <a:schemeClr val="bg1"/>
          </a:solidFill>
          <a:ln w="9525">
            <a:solidFill>
              <a:schemeClr val="accent4"/>
            </a:solidFill>
          </a:ln>
        </p:spPr>
        <p:txBody>
          <a:bodyPr wrap="square" lIns="152400" tIns="203200" rIns="203200" bIns="127000" rtlCol="0" anchor="t"/>
          <a:lstStyle/>
          <a:p>
            <a:pPr indent="0" marL="0">
              <a:spcAft>
                <a:spcPts val="600"/>
              </a:spcAft>
              <a:buNone/>
            </a:pPr>
            <a:r>
              <a:rPr lang="en-US" sz="1800" b="1" dirty="0">
                <a:solidFill>
                  <a:schemeClr val="tx2"/>
                </a:solidFill>
              </a:rPr>
              <a:t>Why a skill</a:t>
            </a:r>
            <a:endParaRPr lang="en-US" sz="1800" dirty="0"/>
          </a:p>
          <a:p>
            <a:pPr marL="342900" indent="-342900">
              <a:spcAft>
                <a:spcPts val="600"/>
              </a:spcAft>
              <a:buSzPct val="100000"/>
              <a:buChar char="•"/>
            </a:pPr>
            <a:r>
              <a:rPr lang="en-US" sz="1400" dirty="0">
                <a:solidFill>
                  <a:schemeClr val="accent5"/>
                </a:solidFill>
              </a:rPr>
              <a:t>Every project starts with the same method and the same guardrails.</a:t>
            </a:r>
            <a:endParaRPr lang="en-US" sz="1800" dirty="0"/>
          </a:p>
          <a:p>
            <a:pPr marL="342900" indent="-342900">
              <a:spcAft>
                <a:spcPts val="600"/>
              </a:spcAft>
              <a:buSzPct val="100000"/>
              <a:buChar char="•"/>
            </a:pPr>
            <a:r>
              <a:rPr lang="en-US" sz="1400" dirty="0">
                <a:solidFill>
                  <a:schemeClr val="accent5"/>
                </a:solidFill>
              </a:rPr>
              <a:t>Improve the workflow once, and every new project gets it.</a:t>
            </a:r>
            <a:endParaRPr lang="en-US" sz="1800" dirty="0"/>
          </a:p>
          <a:p>
            <a:pPr marL="342900" indent="-342900">
              <a:buSzPct val="100000"/>
              <a:buChar char="•"/>
            </a:pPr>
            <a:r>
              <a:rPr lang="en-US" sz="1400" dirty="0">
                <a:solidFill>
                  <a:schemeClr val="accent5"/>
                </a:solidFill>
              </a:rPr>
              <a:t>The method is a reusable asset, not something to explain again each time.</a:t>
            </a:r>
            <a:endParaRPr lang="en-US" sz="1800" dirty="0"/>
          </a:p>
        </p:txBody>
      </p:sp>
      <p:sp>
        <p:nvSpPr>
          <p:cNvPr id="25" name="Slide Number Placeholder 0"/>
          <p:cNvSpPr>
            <a:spLocks noGrp="1"/>
          </p:cNvSpPr>
          <p:nvPr>
            <p:ph type="sldNum" sz="quarter" idx="4294967295"/>
          </p:nvPr>
        </p:nvSpPr>
        <p:spPr>
          <a:xfrm>
            <a:off x="10972800" y="6446520"/>
            <a:ext cx="667512"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Kicker"/>
          <p:cNvSpPr txBox="1"/>
          <p:nvPr/>
        </p:nvSpPr>
        <p:spPr>
          <a:xfrm>
            <a:off x="548640" y="274320"/>
            <a:ext cx="8229600" cy="256032"/>
          </a:xfrm>
          <a:prstGeom prst="rect">
            <a:avLst/>
          </a:prstGeom>
          <a:noFill/>
          <a:ln/>
        </p:spPr>
        <p:txBody>
          <a:bodyPr wrap="square" lIns="0" tIns="0" rIns="0" bIns="0" rtlCol="0" anchor="ctr"/>
          <a:lstStyle/>
          <a:p>
            <a:pPr indent="0" marL="0">
              <a:buNone/>
            </a:pPr>
            <a:r>
              <a:rPr lang="en-US" sz="1200" b="1" spc="300" kern="0" dirty="0">
                <a:solidFill>
                  <a:schemeClr val="accent1"/>
                </a:solidFill>
              </a:rPr>
              <a:t>INSIDE A NEW PROJECT</a:t>
            </a:r>
            <a:endParaRPr lang="en-US" sz="1200" dirty="0"/>
          </a:p>
        </p:txBody>
      </p:sp>
      <p:sp>
        <p:nvSpPr>
          <p:cNvPr id="3" name="Text 0"/>
          <p:cNvSpPr/>
          <p:nvPr>
            <p:ph idx="100" type="title" hasCustomPrompt="1"/>
          </p:nvPr>
        </p:nvSpPr>
        <p:spPr>
          <a:xfrm>
            <a:off x="548640" y="566928"/>
            <a:ext cx="11091672" cy="594360"/>
          </a:xfrm>
          <a:prstGeom prst="rect">
            <a:avLst/>
          </a:prstGeom>
          <a:noFill/>
          <a:ln/>
        </p:spPr>
        <p:txBody>
          <a:bodyPr wrap="square" lIns="0" tIns="0" rIns="0" bIns="0" rtlCol="0" anchor="t"/>
          <a:lstStyle/>
          <a:p>
            <a:pPr algn="l" indent="0" marL="0">
              <a:buNone/>
            </a:pPr>
            <a:r>
              <a:rPr lang="en-US" sz="2800" b="1" dirty="0">
                <a:solidFill>
                  <a:schemeClr val="tx2"/>
                </a:solidFill>
              </a:rPr>
              <a:t>What you get from the skill</a:t>
            </a:r>
            <a:endParaRPr lang="en-US" sz="2800" dirty="0"/>
          </a:p>
        </p:txBody>
      </p:sp>
      <p:graphicFrame>
        <p:nvGraphicFramePr>
          <p:cNvPr id="7" name="Deliverables table"/>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2743200"/>
                <a:gridCol w="4754880"/>
                <a:gridCol w="3593592"/>
              </a:tblGrid>
              <a:tr h="0">
                <a:tc>
                  <a:txBody>
                    <a:bodyPr/>
                    <a:lstStyle/>
                    <a:p>
                      <a:pPr indent="0" marL="0">
                        <a:buNone/>
                      </a:pPr>
                      <a:r>
                        <a:rPr lang="en-US" sz="1400" b="1" dirty="0">
                          <a:solidFill>
                            <a:schemeClr val="accent2"/>
                          </a:solidFill>
                          <a:latin typeface="Calibri" pitchFamily="34" charset="0"/>
                          <a:ea typeface="Calibri" pitchFamily="34" charset="-122"/>
                          <a:cs typeface="Calibri" pitchFamily="34" charset="-120"/>
                        </a:rPr>
                        <a:t>You get</a:t>
                      </a:r>
                      <a:endParaRPr lang="en-US" sz="1400" dirty="0">
                        <a:latin typeface="Calibri" charset="0"/>
                        <a:ea typeface="Calibri" charset="0"/>
                        <a:cs typeface="Calibri" charset="0"/>
                      </a:endParaRPr>
                    </a:p>
                  </a:txBody>
                  <a:tcPr marL="101600" marR="101600" marT="63500" marB="6350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accent3"/>
                    </a:solidFill>
                  </a:tcPr>
                </a:tc>
                <a:tc>
                  <a:txBody>
                    <a:bodyPr/>
                    <a:lstStyle/>
                    <a:p>
                      <a:pPr indent="0" marL="0">
                        <a:buNone/>
                      </a:pPr>
                      <a:r>
                        <a:rPr lang="en-US" sz="1400" b="1" dirty="0">
                          <a:solidFill>
                            <a:schemeClr val="accent2"/>
                          </a:solidFill>
                          <a:latin typeface="Calibri" pitchFamily="34" charset="0"/>
                          <a:ea typeface="Calibri" pitchFamily="34" charset="-122"/>
                          <a:cs typeface="Calibri" pitchFamily="34" charset="-120"/>
                        </a:rPr>
                        <a:t>What it is</a:t>
                      </a:r>
                      <a:endParaRPr lang="en-US" sz="1400" dirty="0">
                        <a:latin typeface="Calibri" charset="0"/>
                        <a:ea typeface="Calibri" charset="0"/>
                        <a:cs typeface="Calibri" charset="0"/>
                      </a:endParaRPr>
                    </a:p>
                  </a:txBody>
                  <a:tcPr marL="101600" marR="101600" marT="63500" marB="6350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accent3"/>
                    </a:solidFill>
                  </a:tcPr>
                </a:tc>
                <a:tc>
                  <a:txBody>
                    <a:bodyPr/>
                    <a:lstStyle/>
                    <a:p>
                      <a:pPr indent="0" marL="0">
                        <a:buNone/>
                      </a:pPr>
                      <a:r>
                        <a:rPr lang="en-US" sz="1400" b="1" dirty="0">
                          <a:solidFill>
                            <a:schemeClr val="accent2"/>
                          </a:solidFill>
                          <a:latin typeface="Calibri" pitchFamily="34" charset="0"/>
                          <a:ea typeface="Calibri" pitchFamily="34" charset="-122"/>
                          <a:cs typeface="Calibri" pitchFamily="34" charset="-120"/>
                        </a:rPr>
                        <a:t>Why</a:t>
                      </a:r>
                      <a:endParaRPr lang="en-US" sz="1400" dirty="0">
                        <a:latin typeface="Calibri" charset="0"/>
                        <a:ea typeface="Calibri" charset="0"/>
                        <a:cs typeface="Calibri" charset="0"/>
                      </a:endParaRPr>
                    </a:p>
                  </a:txBody>
                  <a:tcPr marL="101600" marR="101600" marT="63500" marB="6350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accent3"/>
                    </a:solidFill>
                  </a:tcPr>
                </a:tc>
              </a:tr>
              <a:tr h="0">
                <a:tc>
                  <a:txBody>
                    <a:bodyPr/>
                    <a:lstStyle/>
                    <a:p>
                      <a:pPr indent="0" marL="0">
                        <a:buNone/>
                      </a:pPr>
                      <a:r>
                        <a:rPr lang="en-US" sz="1400" b="1" dirty="0">
                          <a:solidFill>
                            <a:schemeClr val="tx2"/>
                          </a:solidFill>
                          <a:latin typeface="Consolas" pitchFamily="34" charset="0"/>
                          <a:ea typeface="Consolas" pitchFamily="34" charset="-122"/>
                          <a:cs typeface="Consolas" pitchFamily="34" charset="-120"/>
                        </a:rPr>
                        <a:t>CLAUDE.md</a:t>
                      </a:r>
                      <a:pPr indent="0" marL="0">
                        <a:buNone/>
                      </a:pPr>
                      <a:r>
                        <a:rPr lang="en-US" sz="1400" b="1" dirty="0">
                          <a:solidFill>
                            <a:schemeClr val="tx2"/>
                          </a:solidFill>
                          <a:latin typeface="Calibri" pitchFamily="34" charset="0"/>
                          <a:ea typeface="Calibri" pitchFamily="34" charset="-122"/>
                          <a:cs typeface="Calibri" pitchFamily="34" charset="-120"/>
                        </a:rPr>
                        <a:t>, </a:t>
                      </a:r>
                      <a:pPr indent="0" marL="0">
                        <a:buNone/>
                      </a:pPr>
                      <a:r>
                        <a:rPr lang="en-US" sz="1400" b="1" dirty="0">
                          <a:solidFill>
                            <a:schemeClr val="tx2"/>
                          </a:solidFill>
                          <a:latin typeface="Consolas" pitchFamily="34" charset="0"/>
                          <a:ea typeface="Consolas" pitchFamily="34" charset="-122"/>
                          <a:cs typeface="Consolas" pitchFamily="34" charset="-120"/>
                        </a:rPr>
                        <a:t>.claude/rules/</a:t>
                      </a:r>
                      <a:endParaRPr lang="en-US" sz="1200" dirty="0">
                        <a:latin typeface="Calibri" charset="0"/>
                        <a:ea typeface="Calibri" charset="0"/>
                        <a:cs typeface="Calibri" charset="0"/>
                      </a:endParaRPr>
                    </a:p>
                  </a:txBody>
                  <a:tcPr marL="101600" marR="101600" marT="63500" marB="63500" anchor="t">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The rules Claude always loads, about 190 lines, plus topic rules that load only when Claude touches a matching file.</a:t>
                      </a:r>
                      <a:endParaRPr lang="en-US" sz="1200" dirty="0">
                        <a:latin typeface="Calibri" charset="0"/>
                        <a:ea typeface="Calibri" charset="0"/>
                        <a:cs typeface="Calibri" charset="0"/>
                      </a:endParaRPr>
                    </a:p>
                  </a:txBody>
                  <a:tcPr marL="101600" marR="101600" marT="63500" marB="63500" anchor="t">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A short file is followed more reliably, and the Python rules cost nothing while Claude edits CSS.</a:t>
                      </a:r>
                      <a:endParaRPr lang="en-US" sz="1200" dirty="0">
                        <a:latin typeface="Calibri" charset="0"/>
                        <a:ea typeface="Calibri" charset="0"/>
                        <a:cs typeface="Calibri" charset="0"/>
                      </a:endParaRPr>
                    </a:p>
                  </a:txBody>
                  <a:tcPr marL="101600" marR="101600" marT="63500" marB="63500" anchor="t">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r>
              <a:tr h="0">
                <a:tc>
                  <a:txBody>
                    <a:bodyPr/>
                    <a:lstStyle/>
                    <a:p>
                      <a:pPr indent="0" marL="0">
                        <a:buNone/>
                      </a:pPr>
                      <a:r>
                        <a:rPr lang="en-US" sz="1400" b="1" dirty="0">
                          <a:solidFill>
                            <a:schemeClr val="tx2"/>
                          </a:solidFill>
                          <a:latin typeface="Consolas" pitchFamily="34" charset="0"/>
                          <a:ea typeface="Consolas" pitchFamily="34" charset="-122"/>
                          <a:cs typeface="Consolas" pitchFamily="34" charset="-120"/>
                        </a:rPr>
                        <a:t>docs/</a:t>
                      </a:r>
                      <a:endParaRPr lang="en-US" sz="1200" dirty="0">
                        <a:latin typeface="Calibri" charset="0"/>
                        <a:ea typeface="Calibri" charset="0"/>
                        <a:cs typeface="Calibri" charset="0"/>
                      </a:endParaRPr>
                    </a:p>
                  </a:txBody>
                  <a:tcPr marL="101600" marR="101600" marT="63500" marB="63500" anchor="t">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The workflow and its documents: spec, design, plan, written with </a:t>
                      </a:r>
                      <a:pPr indent="0" marL="0">
                        <a:buNone/>
                      </a:pPr>
                      <a:r>
                        <a:rPr lang="en-US" sz="1400" dirty="0">
                          <a:solidFill>
                            <a:schemeClr val="tx1"/>
                          </a:solidFill>
                          <a:latin typeface="Consolas" pitchFamily="34" charset="0"/>
                          <a:ea typeface="Consolas" pitchFamily="34" charset="-122"/>
                          <a:cs typeface="Consolas" pitchFamily="34" charset="-120"/>
                        </a:rPr>
                        <a:t>/write-spec</a:t>
                      </a:r>
                      <a:pPr indent="0" marL="0">
                        <a:buNone/>
                      </a:pPr>
                      <a:r>
                        <a:rPr lang="en-US" sz="1400" dirty="0">
                          <a:solidFill>
                            <a:schemeClr val="tx1"/>
                          </a:solidFill>
                          <a:latin typeface="Calibri" pitchFamily="34" charset="0"/>
                          <a:ea typeface="Calibri" pitchFamily="34" charset="-122"/>
                          <a:cs typeface="Calibri" pitchFamily="34" charset="-120"/>
                        </a:rPr>
                        <a:t>, </a:t>
                      </a:r>
                      <a:pPr indent="0" marL="0">
                        <a:buNone/>
                      </a:pPr>
                      <a:r>
                        <a:rPr lang="en-US" sz="1400" dirty="0">
                          <a:solidFill>
                            <a:schemeClr val="tx1"/>
                          </a:solidFill>
                          <a:latin typeface="Consolas" pitchFamily="34" charset="0"/>
                          <a:ea typeface="Consolas" pitchFamily="34" charset="-122"/>
                          <a:cs typeface="Consolas" pitchFamily="34" charset="-120"/>
                        </a:rPr>
                        <a:t>/write-design</a:t>
                      </a:r>
                      <a:pPr indent="0" marL="0">
                        <a:buNone/>
                      </a:pPr>
                      <a:r>
                        <a:rPr lang="en-US" sz="1400" dirty="0">
                          <a:solidFill>
                            <a:schemeClr val="tx1"/>
                          </a:solidFill>
                          <a:latin typeface="Calibri" pitchFamily="34" charset="0"/>
                          <a:ea typeface="Calibri" pitchFamily="34" charset="-122"/>
                          <a:cs typeface="Calibri" pitchFamily="34" charset="-120"/>
                        </a:rPr>
                        <a:t> and </a:t>
                      </a:r>
                      <a:pPr indent="0" marL="0">
                        <a:buNone/>
                      </a:pPr>
                      <a:r>
                        <a:rPr lang="en-US" sz="1400" dirty="0">
                          <a:solidFill>
                            <a:schemeClr val="tx1"/>
                          </a:solidFill>
                          <a:latin typeface="Consolas" pitchFamily="34" charset="0"/>
                          <a:ea typeface="Consolas" pitchFamily="34" charset="-122"/>
                          <a:cs typeface="Consolas" pitchFamily="34" charset="-120"/>
                        </a:rPr>
                        <a:t>/write-plan</a:t>
                      </a:r>
                      <a:pPr indent="0" marL="0">
                        <a:buNone/>
                      </a:pPr>
                      <a:r>
                        <a:rPr lang="en-US" sz="1400" dirty="0">
                          <a:solidFill>
                            <a:schemeClr val="tx1"/>
                          </a:solidFill>
                          <a:latin typeface="Calibri" pitchFamily="34" charset="0"/>
                          <a:ea typeface="Calibri" pitchFamily="34" charset="-122"/>
                          <a:cs typeface="Calibri" pitchFamily="34" charset="-120"/>
                        </a:rPr>
                        <a:t>. The plan lists milestones with tests, model, effort and status.</a:t>
                      </a:r>
                      <a:endParaRPr lang="en-US" sz="1200" dirty="0">
                        <a:latin typeface="Calibri" charset="0"/>
                        <a:ea typeface="Calibri" charset="0"/>
                        <a:cs typeface="Calibri" charset="0"/>
                      </a:endParaRPr>
                    </a:p>
                  </a:txBody>
                  <a:tcPr marL="101600" marR="101600" marT="63500" marB="63500" anchor="t">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Claude works from these files, not from memory of past sessions. One fact, one file.</a:t>
                      </a:r>
                      <a:endParaRPr lang="en-US" sz="1200" dirty="0">
                        <a:latin typeface="Calibri" charset="0"/>
                        <a:ea typeface="Calibri" charset="0"/>
                        <a:cs typeface="Calibri" charset="0"/>
                      </a:endParaRPr>
                    </a:p>
                  </a:txBody>
                  <a:tcPr marL="101600" marR="101600" marT="63500" marB="63500" anchor="t">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r>
              <a:tr h="0">
                <a:tc>
                  <a:txBody>
                    <a:bodyPr/>
                    <a:lstStyle/>
                    <a:p>
                      <a:pPr indent="0" marL="0">
                        <a:buNone/>
                      </a:pPr>
                      <a:r>
                        <a:rPr lang="en-US" sz="1400" b="1" dirty="0">
                          <a:solidFill>
                            <a:schemeClr val="tx2"/>
                          </a:solidFill>
                          <a:latin typeface="Consolas" pitchFamily="34" charset="0"/>
                          <a:ea typeface="Consolas" pitchFamily="34" charset="-122"/>
                          <a:cs typeface="Consolas" pitchFamily="34" charset="-120"/>
                        </a:rPr>
                        <a:t>scripts/milestones-runner.py</a:t>
                      </a:r>
                      <a:endParaRPr lang="en-US" sz="1200" dirty="0">
                        <a:latin typeface="Calibri" charset="0"/>
                        <a:ea typeface="Calibri" charset="0"/>
                        <a:cs typeface="Calibri" charset="0"/>
                      </a:endParaRPr>
                    </a:p>
                  </a:txBody>
                  <a:tcPr marL="101600" marR="101600" marT="63500" marB="63500" anchor="t">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Runs the open milestones in order, each in a fresh session. Stops at a blocked milestone and prints the question; you approve in the plan, commit, run again.</a:t>
                      </a:r>
                      <a:endParaRPr lang="en-US" sz="1200" dirty="0">
                        <a:latin typeface="Calibri" charset="0"/>
                        <a:ea typeface="Calibri" charset="0"/>
                        <a:cs typeface="Calibri" charset="0"/>
                      </a:endParaRPr>
                    </a:p>
                  </a:txBody>
                  <a:tcPr marL="101600" marR="101600" marT="63500" marB="63500" anchor="t">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No session carries another’s context, and the runner stops instead of guessing.</a:t>
                      </a:r>
                      <a:endParaRPr lang="en-US" sz="1200" dirty="0">
                        <a:latin typeface="Calibri" charset="0"/>
                        <a:ea typeface="Calibri" charset="0"/>
                        <a:cs typeface="Calibri" charset="0"/>
                      </a:endParaRPr>
                    </a:p>
                  </a:txBody>
                  <a:tcPr marL="101600" marR="101600" marT="63500" marB="63500" anchor="t">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r>
              <a:tr h="0">
                <a:tc>
                  <a:txBody>
                    <a:bodyPr/>
                    <a:lstStyle/>
                    <a:p>
                      <a:pPr indent="0" marL="0">
                        <a:buNone/>
                      </a:pPr>
                      <a:r>
                        <a:rPr lang="en-US" sz="1400" b="1" dirty="0">
                          <a:solidFill>
                            <a:schemeClr val="tx2"/>
                          </a:solidFill>
                          <a:latin typeface="Calibri" pitchFamily="34" charset="0"/>
                          <a:ea typeface="Calibri" pitchFamily="34" charset="-122"/>
                          <a:cs typeface="Calibri" pitchFamily="34" charset="-120"/>
                        </a:rPr>
                        <a:t>Hooks, </a:t>
                      </a:r>
                      <a:pPr indent="0" marL="0">
                        <a:buNone/>
                      </a:pPr>
                      <a:r>
                        <a:rPr lang="en-US" sz="1400" b="1" dirty="0">
                          <a:solidFill>
                            <a:schemeClr val="tx2"/>
                          </a:solidFill>
                          <a:latin typeface="Consolas" pitchFamily="34" charset="0"/>
                          <a:ea typeface="Consolas" pitchFamily="34" charset="-122"/>
                          <a:cs typeface="Consolas" pitchFamily="34" charset="-120"/>
                        </a:rPr>
                        <a:t>scripts/check.py</a:t>
                      </a:r>
                      <a:endParaRPr lang="en-US" sz="1200" dirty="0">
                        <a:latin typeface="Calibri" charset="0"/>
                        <a:ea typeface="Calibri" charset="0"/>
                        <a:cs typeface="Calibri" charset="0"/>
                      </a:endParaRPr>
                    </a:p>
                  </a:txBody>
                  <a:tcPr marL="101600" marR="101600" marT="63500" marB="63500" anchor="t">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Each edit: lint and fix. Each commit: all checks and tests.</a:t>
                      </a:r>
                      <a:endParaRPr lang="en-US" sz="1200" dirty="0">
                        <a:latin typeface="Calibri" charset="0"/>
                        <a:ea typeface="Calibri" charset="0"/>
                        <a:cs typeface="Calibri" charset="0"/>
                      </a:endParaRPr>
                    </a:p>
                  </a:txBody>
                  <a:tcPr marL="101600" marR="101600" marT="63500" marB="63500" anchor="t">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Lint errors, type errors and failing tests cannot reach the history.</a:t>
                      </a:r>
                      <a:endParaRPr lang="en-US" sz="1200" dirty="0">
                        <a:latin typeface="Calibri" charset="0"/>
                        <a:ea typeface="Calibri" charset="0"/>
                        <a:cs typeface="Calibri" charset="0"/>
                      </a:endParaRPr>
                    </a:p>
                  </a:txBody>
                  <a:tcPr marL="101600" marR="101600" marT="63500" marB="63500" anchor="t">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r>
              <a:tr h="0">
                <a:tc>
                  <a:txBody>
                    <a:bodyPr/>
                    <a:lstStyle/>
                    <a:p>
                      <a:pPr indent="0" marL="0">
                        <a:buNone/>
                      </a:pPr>
                      <a:r>
                        <a:rPr lang="en-US" sz="1400" b="1" dirty="0">
                          <a:solidFill>
                            <a:schemeClr val="tx2"/>
                          </a:solidFill>
                          <a:latin typeface="Consolas" pitchFamily="34" charset="0"/>
                          <a:ea typeface="Consolas" pitchFamily="34" charset="-122"/>
                          <a:cs typeface="Consolas" pitchFamily="34" charset="-120"/>
                        </a:rPr>
                        <a:t>.claude/settings.json</a:t>
                      </a:r>
                      <a:endParaRPr lang="en-US" sz="1200" dirty="0">
                        <a:latin typeface="Calibri" charset="0"/>
                        <a:ea typeface="Calibri" charset="0"/>
                        <a:cs typeface="Calibri" charset="0"/>
                      </a:endParaRPr>
                    </a:p>
                  </a:txBody>
                  <a:tcPr marL="101600" marR="101600" marT="63500" marB="63500" anchor="t">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Permissions: routine steps allowed, risky ones ask first, destructive ones denied (force push, hard reset).</a:t>
                      </a:r>
                      <a:endParaRPr lang="en-US" sz="1200" dirty="0">
                        <a:latin typeface="Calibri" charset="0"/>
                        <a:ea typeface="Calibri" charset="0"/>
                        <a:cs typeface="Calibri" charset="0"/>
                      </a:endParaRPr>
                    </a:p>
                  </a:txBody>
                  <a:tcPr marL="101600" marR="101600" marT="63500" marB="63500" anchor="t">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A rule here is enforced. A rule in CLAUDE.md is only advice.</a:t>
                      </a:r>
                      <a:endParaRPr lang="en-US" sz="1200" dirty="0">
                        <a:latin typeface="Calibri" charset="0"/>
                        <a:ea typeface="Calibri" charset="0"/>
                        <a:cs typeface="Calibri" charset="0"/>
                      </a:endParaRPr>
                    </a:p>
                  </a:txBody>
                  <a:tcPr marL="101600" marR="101600" marT="63500" marB="63500" anchor="t">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r>
              <a:tr h="0">
                <a:tc>
                  <a:txBody>
                    <a:bodyPr/>
                    <a:lstStyle/>
                    <a:p>
                      <a:pPr indent="0" marL="0">
                        <a:buNone/>
                      </a:pPr>
                      <a:r>
                        <a:rPr lang="en-US" sz="1400" b="1" dirty="0">
                          <a:solidFill>
                            <a:schemeClr val="tx2"/>
                          </a:solidFill>
                          <a:latin typeface="Calibri" pitchFamily="34" charset="0"/>
                          <a:ea typeface="Calibri" pitchFamily="34" charset="-122"/>
                          <a:cs typeface="Calibri" pitchFamily="34" charset="-120"/>
                        </a:rPr>
                        <a:t>Tool configs, </a:t>
                      </a:r>
                      <a:pPr indent="0" marL="0">
                        <a:buNone/>
                      </a:pPr>
                      <a:r>
                        <a:rPr lang="en-US" sz="1400" b="1" dirty="0">
                          <a:solidFill>
                            <a:schemeClr val="tx2"/>
                          </a:solidFill>
                          <a:latin typeface="Consolas" pitchFamily="34" charset="0"/>
                          <a:ea typeface="Consolas" pitchFamily="34" charset="-122"/>
                          <a:cs typeface="Consolas" pitchFamily="34" charset="-120"/>
                        </a:rPr>
                        <a:t>.gitignore</a:t>
                      </a:r>
                      <a:pPr indent="0" marL="0">
                        <a:buNone/>
                      </a:pPr>
                      <a:r>
                        <a:rPr lang="en-US" sz="1400" b="1" dirty="0">
                          <a:solidFill>
                            <a:schemeClr val="tx2"/>
                          </a:solidFill>
                          <a:latin typeface="Calibri" pitchFamily="34" charset="0"/>
                          <a:ea typeface="Calibri" pitchFamily="34" charset="-122"/>
                          <a:cs typeface="Calibri" pitchFamily="34" charset="-120"/>
                        </a:rPr>
                        <a:t>, </a:t>
                      </a:r>
                      <a:pPr indent="0" marL="0">
                        <a:buNone/>
                      </a:pPr>
                      <a:r>
                        <a:rPr lang="en-US" sz="1400" b="1" dirty="0">
                          <a:solidFill>
                            <a:schemeClr val="tx2"/>
                          </a:solidFill>
                          <a:latin typeface="Consolas" pitchFamily="34" charset="0"/>
                          <a:ea typeface="Consolas" pitchFamily="34" charset="-122"/>
                          <a:cs typeface="Consolas" pitchFamily="34" charset="-120"/>
                        </a:rPr>
                        <a:t>config/.env.example</a:t>
                      </a:r>
                      <a:endParaRPr lang="en-US" sz="1200" dirty="0">
                        <a:latin typeface="Calibri" charset="0"/>
                        <a:ea typeface="Calibri" charset="0"/>
                        <a:cs typeface="Calibri" charset="0"/>
                      </a:endParaRPr>
                    </a:p>
                  </a:txBody>
                  <a:tcPr marL="101600" marR="101600" marT="63500" marB="63500" anchor="t">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Ruff, mypy, pytest, ESLint, Prettier and Stylelint, configured. Secrets and generated files kept out of git. The list of settings.</a:t>
                      </a:r>
                      <a:endParaRPr lang="en-US" sz="1200" dirty="0">
                        <a:latin typeface="Calibri" charset="0"/>
                        <a:ea typeface="Calibri" charset="0"/>
                        <a:cs typeface="Calibri" charset="0"/>
                      </a:endParaRPr>
                    </a:p>
                  </a:txBody>
                  <a:tcPr marL="101600" marR="101600" marT="63500" marB="63500" anchor="t">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Every project has the same layout and the same checks from the first commit.</a:t>
                      </a:r>
                      <a:endParaRPr lang="en-US" sz="1200" dirty="0">
                        <a:latin typeface="Calibri" charset="0"/>
                        <a:ea typeface="Calibri" charset="0"/>
                        <a:cs typeface="Calibri" charset="0"/>
                      </a:endParaRPr>
                    </a:p>
                  </a:txBody>
                  <a:tcPr marL="101600" marR="101600" marT="63500" marB="63500" anchor="t">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0972800" y="6446520"/>
            <a:ext cx="667512"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Kicker"/>
          <p:cNvSpPr txBox="1"/>
          <p:nvPr/>
        </p:nvSpPr>
        <p:spPr>
          <a:xfrm>
            <a:off x="548640" y="274320"/>
            <a:ext cx="8229600" cy="256032"/>
          </a:xfrm>
          <a:prstGeom prst="rect">
            <a:avLst/>
          </a:prstGeom>
          <a:noFill/>
          <a:ln/>
        </p:spPr>
        <p:txBody>
          <a:bodyPr wrap="square" lIns="0" tIns="0" rIns="0" bIns="0" rtlCol="0" anchor="ctr"/>
          <a:lstStyle/>
          <a:p>
            <a:pPr indent="0" marL="0">
              <a:buNone/>
            </a:pPr>
            <a:r>
              <a:rPr lang="en-US" sz="1200" b="1" spc="300" kern="0" dirty="0">
                <a:solidFill>
                  <a:schemeClr val="accent1"/>
                </a:solidFill>
              </a:rPr>
              <a:t>HIGH QUALITY BY DEFAULT</a:t>
            </a:r>
            <a:endParaRPr lang="en-US" sz="1200" dirty="0"/>
          </a:p>
        </p:txBody>
      </p:sp>
      <p:sp>
        <p:nvSpPr>
          <p:cNvPr id="3" name="Text 0"/>
          <p:cNvSpPr/>
          <p:nvPr>
            <p:ph idx="100" type="title" hasCustomPrompt="1"/>
          </p:nvPr>
        </p:nvSpPr>
        <p:spPr>
          <a:xfrm>
            <a:off x="548640" y="566928"/>
            <a:ext cx="11091672" cy="594360"/>
          </a:xfrm>
          <a:prstGeom prst="rect">
            <a:avLst/>
          </a:prstGeom>
          <a:noFill/>
          <a:ln/>
        </p:spPr>
        <p:txBody>
          <a:bodyPr wrap="square" lIns="0" tIns="0" rIns="0" bIns="0" rtlCol="0" anchor="t"/>
          <a:lstStyle/>
          <a:p>
            <a:pPr algn="l" indent="0" marL="0">
              <a:buNone/>
            </a:pPr>
            <a:r>
              <a:rPr lang="en-US" sz="2800" b="1" dirty="0">
                <a:solidFill>
                  <a:schemeClr val="tx2"/>
                </a:solidFill>
              </a:rPr>
              <a:t>The standard CLAUDE.md enforces the essentials</a:t>
            </a:r>
            <a:endParaRPr lang="en-US" sz="2800" dirty="0"/>
          </a:p>
        </p:txBody>
      </p:sp>
      <p:sp>
        <p:nvSpPr>
          <p:cNvPr id="4" name="Lead"/>
          <p:cNvSpPr txBox="1"/>
          <p:nvPr/>
        </p:nvSpPr>
        <p:spPr>
          <a:xfrm>
            <a:off x="548640" y="1188720"/>
            <a:ext cx="11091672" cy="320040"/>
          </a:xfrm>
          <a:prstGeom prst="rect">
            <a:avLst/>
          </a:prstGeom>
          <a:noFill/>
          <a:ln/>
        </p:spPr>
        <p:txBody>
          <a:bodyPr wrap="square" lIns="0" tIns="0" rIns="0" bIns="0" rtlCol="0" anchor="t"/>
          <a:lstStyle/>
          <a:p>
            <a:pPr indent="0" marL="0">
              <a:buNone/>
            </a:pPr>
            <a:r>
              <a:rPr lang="en-US" sz="1600" dirty="0">
                <a:solidFill>
                  <a:schemeClr val="accent5"/>
                </a:solidFill>
              </a:rPr>
              <a:t>The components of high-quality code, written into the rules of every new project.</a:t>
            </a:r>
            <a:endParaRPr lang="en-US" sz="1600" dirty="0"/>
          </a:p>
        </p:txBody>
      </p:sp>
      <p:graphicFrame>
        <p:nvGraphicFramePr>
          <p:cNvPr id="8" name="Essentials table"/>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2103120"/>
                <a:gridCol w="5669280"/>
                <a:gridCol w="3319272"/>
              </a:tblGrid>
              <a:tr h="0">
                <a:tc>
                  <a:txBody>
                    <a:bodyPr/>
                    <a:lstStyle/>
                    <a:p>
                      <a:pPr indent="0" marL="0">
                        <a:buNone/>
                      </a:pPr>
                      <a:r>
                        <a:rPr lang="en-US" sz="1400" b="1" dirty="0">
                          <a:solidFill>
                            <a:schemeClr val="accent2"/>
                          </a:solidFill>
                          <a:latin typeface="Calibri" pitchFamily="34" charset="0"/>
                          <a:ea typeface="Calibri" pitchFamily="34" charset="-122"/>
                          <a:cs typeface="Calibri" pitchFamily="34" charset="-120"/>
                        </a:rPr>
                        <a:t>Essential</a:t>
                      </a:r>
                      <a:endParaRPr lang="en-US" sz="1400" dirty="0">
                        <a:latin typeface="Calibri" charset="0"/>
                        <a:ea typeface="Calibri" charset="0"/>
                        <a:cs typeface="Calibri" charset="0"/>
                      </a:endParaRPr>
                    </a:p>
                  </a:txBody>
                  <a:tcPr marL="101600" marR="101600" marT="63500" marB="6350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accent3"/>
                    </a:solidFill>
                  </a:tcPr>
                </a:tc>
                <a:tc>
                  <a:txBody>
                    <a:bodyPr/>
                    <a:lstStyle/>
                    <a:p>
                      <a:pPr indent="0" marL="0">
                        <a:buNone/>
                      </a:pPr>
                      <a:r>
                        <a:rPr lang="en-US" sz="1400" b="1" dirty="0">
                          <a:solidFill>
                            <a:schemeClr val="accent2"/>
                          </a:solidFill>
                          <a:latin typeface="Calibri" pitchFamily="34" charset="0"/>
                          <a:ea typeface="Calibri" pitchFamily="34" charset="-122"/>
                          <a:cs typeface="Calibri" pitchFamily="34" charset="-120"/>
                        </a:rPr>
                        <a:t>The rule</a:t>
                      </a:r>
                      <a:endParaRPr lang="en-US" sz="1400" dirty="0">
                        <a:latin typeface="Calibri" charset="0"/>
                        <a:ea typeface="Calibri" charset="0"/>
                        <a:cs typeface="Calibri" charset="0"/>
                      </a:endParaRPr>
                    </a:p>
                  </a:txBody>
                  <a:tcPr marL="101600" marR="101600" marT="63500" marB="6350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accent3"/>
                    </a:solidFill>
                  </a:tcPr>
                </a:tc>
                <a:tc>
                  <a:txBody>
                    <a:bodyPr/>
                    <a:lstStyle/>
                    <a:p>
                      <a:pPr indent="0" marL="0">
                        <a:buNone/>
                      </a:pPr>
                      <a:r>
                        <a:rPr lang="en-US" sz="1400" b="1" dirty="0">
                          <a:solidFill>
                            <a:schemeClr val="accent2"/>
                          </a:solidFill>
                          <a:latin typeface="Calibri" pitchFamily="34" charset="0"/>
                          <a:ea typeface="Calibri" pitchFamily="34" charset="-122"/>
                          <a:cs typeface="Calibri" pitchFamily="34" charset="-120"/>
                        </a:rPr>
                        <a:t>Why</a:t>
                      </a:r>
                      <a:endParaRPr lang="en-US" sz="1400" dirty="0">
                        <a:latin typeface="Calibri" charset="0"/>
                        <a:ea typeface="Calibri" charset="0"/>
                        <a:cs typeface="Calibri" charset="0"/>
                      </a:endParaRPr>
                    </a:p>
                  </a:txBody>
                  <a:tcPr marL="101600" marR="101600" marT="63500" marB="6350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accent3"/>
                    </a:solidFill>
                  </a:tcPr>
                </a:tc>
              </a:tr>
              <a:tr h="0">
                <a:tc>
                  <a:txBody>
                    <a:bodyPr/>
                    <a:lstStyle/>
                    <a:p>
                      <a:pPr indent="0" marL="0">
                        <a:buNone/>
                      </a:pPr>
                      <a:r>
                        <a:rPr lang="en-US" sz="1400" b="1" dirty="0">
                          <a:solidFill>
                            <a:schemeClr val="tx2"/>
                          </a:solidFill>
                          <a:latin typeface="Calibri" pitchFamily="34" charset="0"/>
                          <a:ea typeface="Calibri" pitchFamily="34" charset="-122"/>
                          <a:cs typeface="Calibri" pitchFamily="34" charset="-120"/>
                        </a:rPr>
                        <a:t>Logging</a:t>
                      </a:r>
                      <a:endParaRPr lang="en-US" sz="1200" dirty="0">
                        <a:latin typeface="Calibri" charset="0"/>
                        <a:ea typeface="Calibri" charset="0"/>
                        <a:cs typeface="Calibri" charset="0"/>
                      </a:endParaRPr>
                    </a:p>
                  </a:txBody>
                  <a:tcPr marL="101600" marR="101600" marT="63500" marB="63500" anchor="t">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Set up once, in the entry point, from settings. Plain text, one line per event: time, level, module. Never log secrets. </a:t>
                      </a:r>
                      <a:pPr indent="0" marL="0">
                        <a:buNone/>
                      </a:pPr>
                      <a:r>
                        <a:rPr lang="en-US" sz="1400" dirty="0">
                          <a:solidFill>
                            <a:schemeClr val="tx1"/>
                          </a:solidFill>
                          <a:latin typeface="Consolas" pitchFamily="34" charset="0"/>
                          <a:ea typeface="Consolas" pitchFamily="34" charset="-122"/>
                          <a:cs typeface="Consolas" pitchFamily="34" charset="-120"/>
                        </a:rPr>
                        <a:t>print</a:t>
                      </a:r>
                      <a:pPr indent="0" marL="0">
                        <a:buNone/>
                      </a:pPr>
                      <a:r>
                        <a:rPr lang="en-US" sz="1400" dirty="0">
                          <a:solidFill>
                            <a:schemeClr val="tx1"/>
                          </a:solidFill>
                          <a:latin typeface="Calibri" pitchFamily="34" charset="0"/>
                          <a:ea typeface="Calibri" pitchFamily="34" charset="-122"/>
                          <a:cs typeface="Calibri" pitchFamily="34" charset="-120"/>
                        </a:rPr>
                        <a:t> is blocked.</a:t>
                      </a:r>
                      <a:endParaRPr lang="en-US" sz="1200" dirty="0">
                        <a:latin typeface="Calibri" charset="0"/>
                        <a:ea typeface="Calibri" charset="0"/>
                        <a:cs typeface="Calibri" charset="0"/>
                      </a:endParaRPr>
                    </a:p>
                  </a:txBody>
                  <a:tcPr marL="101600" marR="101600" marT="63500" marB="63500" anchor="t">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You can see what the app did, and a failure leaves a trail.</a:t>
                      </a:r>
                      <a:endParaRPr lang="en-US" sz="1200" dirty="0">
                        <a:latin typeface="Calibri" charset="0"/>
                        <a:ea typeface="Calibri" charset="0"/>
                        <a:cs typeface="Calibri" charset="0"/>
                      </a:endParaRPr>
                    </a:p>
                  </a:txBody>
                  <a:tcPr marL="101600" marR="101600" marT="63500" marB="63500" anchor="t">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r>
              <a:tr h="0">
                <a:tc>
                  <a:txBody>
                    <a:bodyPr/>
                    <a:lstStyle/>
                    <a:p>
                      <a:pPr indent="0" marL="0">
                        <a:buNone/>
                      </a:pPr>
                      <a:r>
                        <a:rPr lang="en-US" sz="1400" b="1" dirty="0">
                          <a:solidFill>
                            <a:schemeClr val="tx2"/>
                          </a:solidFill>
                          <a:latin typeface="Calibri" pitchFamily="34" charset="0"/>
                          <a:ea typeface="Calibri" pitchFamily="34" charset="-122"/>
                          <a:cs typeface="Calibri" pitchFamily="34" charset="-120"/>
                        </a:rPr>
                        <a:t>Configuration</a:t>
                      </a:r>
                      <a:endParaRPr lang="en-US" sz="1200" dirty="0">
                        <a:latin typeface="Calibri" charset="0"/>
                        <a:ea typeface="Calibri" charset="0"/>
                        <a:cs typeface="Calibri" charset="0"/>
                      </a:endParaRPr>
                    </a:p>
                  </a:txBody>
                  <a:tcPr marL="101600" marR="101600" marT="63500" marB="63500" anchor="t">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Every setting lives in </a:t>
                      </a:r>
                      <a:pPr indent="0" marL="0">
                        <a:buNone/>
                      </a:pPr>
                      <a:r>
                        <a:rPr lang="en-US" sz="1400" dirty="0">
                          <a:solidFill>
                            <a:schemeClr val="tx1"/>
                          </a:solidFill>
                          <a:latin typeface="Consolas" pitchFamily="34" charset="0"/>
                          <a:ea typeface="Consolas" pitchFamily="34" charset="-122"/>
                          <a:cs typeface="Consolas" pitchFamily="34" charset="-120"/>
                        </a:rPr>
                        <a:t>config/.env</a:t>
                      </a:r>
                      <a:pPr indent="0" marL="0">
                        <a:buNone/>
                      </a:pPr>
                      <a:r>
                        <a:rPr lang="en-US" sz="1400" dirty="0">
                          <a:solidFill>
                            <a:schemeClr val="tx1"/>
                          </a:solidFill>
                          <a:latin typeface="Calibri" pitchFamily="34" charset="0"/>
                          <a:ea typeface="Calibri" pitchFamily="34" charset="-122"/>
                          <a:cs typeface="Calibri" pitchFamily="34" charset="-120"/>
                        </a:rPr>
                        <a:t> (never committed) and is listed in </a:t>
                      </a:r>
                      <a:pPr indent="0" marL="0">
                        <a:buNone/>
                      </a:pPr>
                      <a:r>
                        <a:rPr lang="en-US" sz="1400" dirty="0">
                          <a:solidFill>
                            <a:schemeClr val="tx1"/>
                          </a:solidFill>
                          <a:latin typeface="Consolas" pitchFamily="34" charset="0"/>
                          <a:ea typeface="Consolas" pitchFamily="34" charset="-122"/>
                          <a:cs typeface="Consolas" pitchFamily="34" charset="-120"/>
                        </a:rPr>
                        <a:t>.env.example</a:t>
                      </a:r>
                      <a:pPr indent="0" marL="0">
                        <a:buNone/>
                      </a:pPr>
                      <a:r>
                        <a:rPr lang="en-US" sz="1400" dirty="0">
                          <a:solidFill>
                            <a:schemeClr val="tx1"/>
                          </a:solidFill>
                          <a:latin typeface="Calibri" pitchFamily="34" charset="0"/>
                          <a:ea typeface="Calibri" pitchFamily="34" charset="-122"/>
                          <a:cs typeface="Calibri" pitchFamily="34" charset="-120"/>
                        </a:rPr>
                        <a:t>. No URLs, paths or thresholds inline. A missing value fails clearly at startup.</a:t>
                      </a:r>
                      <a:endParaRPr lang="en-US" sz="1200" dirty="0">
                        <a:latin typeface="Calibri" charset="0"/>
                        <a:ea typeface="Calibri" charset="0"/>
                        <a:cs typeface="Calibri" charset="0"/>
                      </a:endParaRPr>
                    </a:p>
                  </a:txBody>
                  <a:tcPr marL="101600" marR="101600" marT="63500" marB="63500" anchor="t">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One place to change behavior, and secrets stay out of the code.</a:t>
                      </a:r>
                      <a:endParaRPr lang="en-US" sz="1200" dirty="0">
                        <a:latin typeface="Calibri" charset="0"/>
                        <a:ea typeface="Calibri" charset="0"/>
                        <a:cs typeface="Calibri" charset="0"/>
                      </a:endParaRPr>
                    </a:p>
                  </a:txBody>
                  <a:tcPr marL="101600" marR="101600" marT="63500" marB="63500" anchor="t">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r>
              <a:tr h="0">
                <a:tc>
                  <a:txBody>
                    <a:bodyPr/>
                    <a:lstStyle/>
                    <a:p>
                      <a:pPr indent="0" marL="0">
                        <a:buNone/>
                      </a:pPr>
                      <a:r>
                        <a:rPr lang="en-US" sz="1400" b="1" dirty="0">
                          <a:solidFill>
                            <a:schemeClr val="tx2"/>
                          </a:solidFill>
                          <a:latin typeface="Calibri" pitchFamily="34" charset="0"/>
                          <a:ea typeface="Calibri" pitchFamily="34" charset="-122"/>
                          <a:cs typeface="Calibri" pitchFamily="34" charset="-120"/>
                        </a:rPr>
                        <a:t>requirements.txt</a:t>
                      </a:r>
                      <a:endParaRPr lang="en-US" sz="1200" dirty="0">
                        <a:latin typeface="Calibri" charset="0"/>
                        <a:ea typeface="Calibri" charset="0"/>
                        <a:cs typeface="Calibri" charset="0"/>
                      </a:endParaRPr>
                    </a:p>
                  </a:txBody>
                  <a:tcPr marL="101600" marR="101600" marT="63500" marB="63500" anchor="t">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The only list of dependencies. Direct ones only, pinned with </a:t>
                      </a:r>
                      <a:pPr indent="0" marL="0">
                        <a:buNone/>
                      </a:pPr>
                      <a:r>
                        <a:rPr lang="en-US" sz="1400" dirty="0">
                          <a:solidFill>
                            <a:schemeClr val="tx1"/>
                          </a:solidFill>
                          <a:latin typeface="Consolas" pitchFamily="34" charset="0"/>
                          <a:ea typeface="Consolas" pitchFamily="34" charset="-122"/>
                          <a:cs typeface="Consolas" pitchFamily="34" charset="-120"/>
                        </a:rPr>
                        <a:t>==</a:t>
                      </a:r>
                      <a:pPr indent="0" marL="0">
                        <a:buNone/>
                      </a:pPr>
                      <a:r>
                        <a:rPr lang="en-US" sz="1400" dirty="0">
                          <a:solidFill>
                            <a:schemeClr val="tx1"/>
                          </a:solidFill>
                          <a:latin typeface="Calibri" pitchFamily="34" charset="0"/>
                          <a:ea typeface="Calibri" pitchFamily="34" charset="-122"/>
                          <a:cs typeface="Calibri" pitchFamily="34" charset="-120"/>
                        </a:rPr>
                        <a:t>. Ask before adding one.</a:t>
                      </a:r>
                      <a:endParaRPr lang="en-US" sz="1200" dirty="0">
                        <a:latin typeface="Calibri" charset="0"/>
                        <a:ea typeface="Calibri" charset="0"/>
                        <a:cs typeface="Calibri" charset="0"/>
                      </a:endParaRPr>
                    </a:p>
                  </a:txBody>
                  <a:tcPr marL="101600" marR="101600" marT="63500" marB="63500" anchor="t">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The same tools and versions on every machine. No surprise packages.</a:t>
                      </a:r>
                      <a:endParaRPr lang="en-US" sz="1200" dirty="0">
                        <a:latin typeface="Calibri" charset="0"/>
                        <a:ea typeface="Calibri" charset="0"/>
                        <a:cs typeface="Calibri" charset="0"/>
                      </a:endParaRPr>
                    </a:p>
                  </a:txBody>
                  <a:tcPr marL="101600" marR="101600" marT="63500" marB="63500" anchor="t">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r>
              <a:tr h="0">
                <a:tc>
                  <a:txBody>
                    <a:bodyPr/>
                    <a:lstStyle/>
                    <a:p>
                      <a:pPr indent="0" marL="0">
                        <a:buNone/>
                      </a:pPr>
                      <a:r>
                        <a:rPr lang="en-US" sz="1400" b="1" dirty="0">
                          <a:solidFill>
                            <a:schemeClr val="tx2"/>
                          </a:solidFill>
                          <a:latin typeface="Calibri" pitchFamily="34" charset="0"/>
                          <a:ea typeface="Calibri" pitchFamily="34" charset="-122"/>
                          <a:cs typeface="Calibri" pitchFamily="34" charset="-120"/>
                        </a:rPr>
                        <a:t>Exception handling</a:t>
                      </a:r>
                      <a:endParaRPr lang="en-US" sz="1200" dirty="0">
                        <a:latin typeface="Calibri" charset="0"/>
                        <a:ea typeface="Calibri" charset="0"/>
                        <a:cs typeface="Calibri" charset="0"/>
                      </a:endParaRPr>
                    </a:p>
                  </a:txBody>
                  <a:tcPr marL="101600" marR="101600" marT="63500" marB="63500" anchor="t">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Catch only at an external boundary, add context and re-raise. Never swallow. The top level shows the full stack trace and stops.</a:t>
                      </a:r>
                      <a:endParaRPr lang="en-US" sz="1200" dirty="0">
                        <a:latin typeface="Calibri" charset="0"/>
                        <a:ea typeface="Calibri" charset="0"/>
                        <a:cs typeface="Calibri" charset="0"/>
                      </a:endParaRPr>
                    </a:p>
                  </a:txBody>
                  <a:tcPr marL="101600" marR="101600" marT="63500" marB="63500" anchor="t">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Failures are loud and traceable, not hidden.</a:t>
                      </a:r>
                      <a:endParaRPr lang="en-US" sz="1200" dirty="0">
                        <a:latin typeface="Calibri" charset="0"/>
                        <a:ea typeface="Calibri" charset="0"/>
                        <a:cs typeface="Calibri" charset="0"/>
                      </a:endParaRPr>
                    </a:p>
                  </a:txBody>
                  <a:tcPr marL="101600" marR="101600" marT="63500" marB="63500" anchor="t">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r>
              <a:tr h="0">
                <a:tc>
                  <a:txBody>
                    <a:bodyPr/>
                    <a:lstStyle/>
                    <a:p>
                      <a:pPr indent="0" marL="0">
                        <a:buNone/>
                      </a:pPr>
                      <a:r>
                        <a:rPr lang="en-US" sz="1400" b="1" dirty="0">
                          <a:solidFill>
                            <a:schemeClr val="tx2"/>
                          </a:solidFill>
                          <a:latin typeface="Calibri" pitchFamily="34" charset="0"/>
                          <a:ea typeface="Calibri" pitchFamily="34" charset="-122"/>
                          <a:cs typeface="Calibri" pitchFamily="34" charset="-120"/>
                        </a:rPr>
                        <a:t>Testing</a:t>
                      </a:r>
                      <a:endParaRPr lang="en-US" sz="1200" dirty="0">
                        <a:latin typeface="Calibri" charset="0"/>
                        <a:ea typeface="Calibri" charset="0"/>
                        <a:cs typeface="Calibri" charset="0"/>
                      </a:endParaRPr>
                    </a:p>
                  </a:txBody>
                  <a:tcPr marL="101600" marR="101600" marT="63500" marB="63500" anchor="t">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Every requirement has a test. Every user workflow has an end-to-end test. 80% branch coverage. A test is never weakened to make it pass.</a:t>
                      </a:r>
                      <a:endParaRPr lang="en-US" sz="1200" dirty="0">
                        <a:latin typeface="Calibri" charset="0"/>
                        <a:ea typeface="Calibri" charset="0"/>
                        <a:cs typeface="Calibri" charset="0"/>
                      </a:endParaRPr>
                    </a:p>
                  </a:txBody>
                  <a:tcPr marL="101600" marR="101600" marT="63500" marB="63500" anchor="t">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The tests prove the app does what the spec says.</a:t>
                      </a:r>
                      <a:endParaRPr lang="en-US" sz="1200" dirty="0">
                        <a:latin typeface="Calibri" charset="0"/>
                        <a:ea typeface="Calibri" charset="0"/>
                        <a:cs typeface="Calibri" charset="0"/>
                      </a:endParaRPr>
                    </a:p>
                  </a:txBody>
                  <a:tcPr marL="101600" marR="101600" marT="63500" marB="63500" anchor="t">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0972800" y="6446520"/>
            <a:ext cx="667512"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Kicker"/>
          <p:cNvSpPr txBox="1"/>
          <p:nvPr/>
        </p:nvSpPr>
        <p:spPr>
          <a:xfrm>
            <a:off x="548640" y="274320"/>
            <a:ext cx="8229600" cy="256032"/>
          </a:xfrm>
          <a:prstGeom prst="rect">
            <a:avLst/>
          </a:prstGeom>
          <a:noFill/>
          <a:ln/>
        </p:spPr>
        <p:txBody>
          <a:bodyPr wrap="square" lIns="0" tIns="0" rIns="0" bIns="0" rtlCol="0" anchor="ctr"/>
          <a:lstStyle/>
          <a:p>
            <a:pPr indent="0" marL="0">
              <a:buNone/>
            </a:pPr>
            <a:r>
              <a:rPr lang="en-US" sz="1200" b="1" spc="300" kern="0" dirty="0">
                <a:solidFill>
                  <a:schemeClr val="accent1"/>
                </a:solidFill>
              </a:rPr>
              <a:t>WHAT YOU GET, AND WHY</a:t>
            </a:r>
            <a:endParaRPr lang="en-US" sz="1200" dirty="0"/>
          </a:p>
        </p:txBody>
      </p:sp>
      <p:sp>
        <p:nvSpPr>
          <p:cNvPr id="3" name="Text 0"/>
          <p:cNvSpPr/>
          <p:nvPr>
            <p:ph idx="100" type="title" hasCustomPrompt="1"/>
          </p:nvPr>
        </p:nvSpPr>
        <p:spPr>
          <a:xfrm>
            <a:off x="548640" y="566928"/>
            <a:ext cx="11091672" cy="594360"/>
          </a:xfrm>
          <a:prstGeom prst="rect">
            <a:avLst/>
          </a:prstGeom>
          <a:noFill/>
          <a:ln/>
        </p:spPr>
        <p:txBody>
          <a:bodyPr wrap="square" lIns="0" tIns="0" rIns="0" bIns="0" rtlCol="0" anchor="t"/>
          <a:lstStyle/>
          <a:p>
            <a:pPr algn="l" indent="0" marL="0">
              <a:buNone/>
            </a:pPr>
            <a:r>
              <a:rPr lang="en-US" sz="2800" b="1" dirty="0">
                <a:solidFill>
                  <a:schemeClr val="tx2"/>
                </a:solidFill>
              </a:rPr>
              <a:t>Enforce with tools, not prompts</a:t>
            </a:r>
            <a:endParaRPr lang="en-US" sz="2800" dirty="0"/>
          </a:p>
        </p:txBody>
      </p:sp>
      <p:graphicFrame>
        <p:nvGraphicFramePr>
          <p:cNvPr id="9" name="Tools table"/>
          <p:cNvGraphicFramePr>
            <a:graphicFrameLocks noGrp="1"/>
          </p:cNvGraphicFramePr>
          <p:nvPr>
            <p:extLst>
              <p:ext uri="{D42A27DB-BD31-4B8C-83A1-F6EECF244321}">
                <p14:modId xmlns:p14="http://schemas.microsoft.com/office/powerpoint/2010/main" val="1579011935"/>
              </p:ext>
            </p:extLst>
          </p:nvPr>
        </p:nvGraphicFramePr>
        <p:xfrm>
          <a:off x="548640" y="1325880"/>
          <a:ext cx="5486400" cy="914400"/>
        </p:xfrm>
        <a:graphic>
          <a:graphicData uri="http://schemas.openxmlformats.org/drawingml/2006/table">
            <a:tbl>
              <a:tblPr/>
              <a:tblGrid>
                <a:gridCol w="2011680"/>
                <a:gridCol w="3474720"/>
              </a:tblGrid>
              <a:tr h="0">
                <a:tc>
                  <a:txBody>
                    <a:bodyPr/>
                    <a:lstStyle/>
                    <a:p>
                      <a:pPr indent="0" marL="0">
                        <a:buNone/>
                      </a:pPr>
                      <a:r>
                        <a:rPr lang="en-US" sz="1400" b="1" dirty="0">
                          <a:solidFill>
                            <a:schemeClr val="accent2"/>
                          </a:solidFill>
                          <a:latin typeface="Calibri" pitchFamily="34" charset="0"/>
                          <a:ea typeface="Calibri" pitchFamily="34" charset="-122"/>
                          <a:cs typeface="Calibri" pitchFamily="34" charset="-120"/>
                        </a:rPr>
                        <a:t>Tool</a:t>
                      </a:r>
                      <a:endParaRPr lang="en-US" sz="1400" dirty="0">
                        <a:latin typeface="Calibri" charset="0"/>
                        <a:ea typeface="Calibri" charset="0"/>
                        <a:cs typeface="Calibri" charset="0"/>
                      </a:endParaRPr>
                    </a:p>
                  </a:txBody>
                  <a:tcPr marL="101600" marR="101600" marT="63500" marB="6350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accent3"/>
                    </a:solidFill>
                  </a:tcPr>
                </a:tc>
                <a:tc>
                  <a:txBody>
                    <a:bodyPr/>
                    <a:lstStyle/>
                    <a:p>
                      <a:pPr indent="0" marL="0">
                        <a:buNone/>
                      </a:pPr>
                      <a:r>
                        <a:rPr lang="en-US" sz="1400" b="1" dirty="0">
                          <a:solidFill>
                            <a:schemeClr val="accent2"/>
                          </a:solidFill>
                          <a:latin typeface="Calibri" pitchFamily="34" charset="0"/>
                          <a:ea typeface="Calibri" pitchFamily="34" charset="-122"/>
                          <a:cs typeface="Calibri" pitchFamily="34" charset="-120"/>
                        </a:rPr>
                        <a:t>Enforces</a:t>
                      </a:r>
                      <a:endParaRPr lang="en-US" sz="1400" dirty="0">
                        <a:latin typeface="Calibri" charset="0"/>
                        <a:ea typeface="Calibri" charset="0"/>
                        <a:cs typeface="Calibri" charset="0"/>
                      </a:endParaRPr>
                    </a:p>
                  </a:txBody>
                  <a:tcPr marL="101600" marR="101600" marT="63500" marB="6350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accent3"/>
                    </a:solidFill>
                  </a:tcPr>
                </a:tc>
              </a:tr>
              <a:tr h="0">
                <a:tc>
                  <a:txBody>
                    <a:bodyPr/>
                    <a:lstStyle/>
                    <a:p>
                      <a:pPr indent="0" marL="0">
                        <a:buNone/>
                      </a:pPr>
                      <a:r>
                        <a:rPr lang="en-US" sz="1400" b="1" dirty="0">
                          <a:solidFill>
                            <a:schemeClr val="tx2"/>
                          </a:solidFill>
                          <a:latin typeface="Calibri" pitchFamily="34" charset="0"/>
                          <a:ea typeface="Calibri" pitchFamily="34" charset="-122"/>
                          <a:cs typeface="Calibri" pitchFamily="34" charset="-120"/>
                        </a:rPr>
                        <a:t>ruff · ESLint¹</a:t>
                      </a:r>
                      <a:endParaRPr lang="en-US" sz="1200" dirty="0">
                        <a:latin typeface="Calibri" charset="0"/>
                        <a:ea typeface="Calibri" charset="0"/>
                        <a:cs typeface="Calibri" charset="0"/>
                      </a:endParaRPr>
                    </a:p>
                  </a:txBody>
                  <a:tcPr marL="101600" marR="101600" marT="63500" marB="63500" anchor="t">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Style, smells, small functions (≈20 lines, 4 parameters)</a:t>
                      </a:r>
                      <a:endParaRPr lang="en-US" sz="1200" dirty="0">
                        <a:latin typeface="Calibri" charset="0"/>
                        <a:ea typeface="Calibri" charset="0"/>
                        <a:cs typeface="Calibri" charset="0"/>
                      </a:endParaRPr>
                    </a:p>
                  </a:txBody>
                  <a:tcPr marL="101600" marR="101600" marT="63500" marB="63500" anchor="t">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r>
              <a:tr h="0">
                <a:tc>
                  <a:txBody>
                    <a:bodyPr/>
                    <a:lstStyle/>
                    <a:p>
                      <a:pPr indent="0" marL="0">
                        <a:buNone/>
                      </a:pPr>
                      <a:r>
                        <a:rPr lang="en-US" sz="1400" b="1" dirty="0">
                          <a:solidFill>
                            <a:schemeClr val="tx2"/>
                          </a:solidFill>
                          <a:latin typeface="Calibri" pitchFamily="34" charset="0"/>
                          <a:ea typeface="Calibri" pitchFamily="34" charset="-122"/>
                          <a:cs typeface="Calibri" pitchFamily="34" charset="-120"/>
                        </a:rPr>
                        <a:t>Prettier · Stylelint</a:t>
                      </a:r>
                      <a:endParaRPr lang="en-US" sz="1200" dirty="0">
                        <a:latin typeface="Calibri" charset="0"/>
                        <a:ea typeface="Calibri" charset="0"/>
                        <a:cs typeface="Calibri" charset="0"/>
                      </a:endParaRPr>
                    </a:p>
                  </a:txBody>
                  <a:tcPr marL="101600" marR="101600" marT="63500" marB="63500" anchor="t">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Formatting, CSS rules</a:t>
                      </a:r>
                      <a:endParaRPr lang="en-US" sz="1200" dirty="0">
                        <a:latin typeface="Calibri" charset="0"/>
                        <a:ea typeface="Calibri" charset="0"/>
                        <a:cs typeface="Calibri" charset="0"/>
                      </a:endParaRPr>
                    </a:p>
                  </a:txBody>
                  <a:tcPr marL="101600" marR="101600" marT="63500" marB="63500" anchor="t">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r>
              <a:tr h="0">
                <a:tc>
                  <a:txBody>
                    <a:bodyPr/>
                    <a:lstStyle/>
                    <a:p>
                      <a:pPr indent="0" marL="0">
                        <a:buNone/>
                      </a:pPr>
                      <a:r>
                        <a:rPr lang="en-US" sz="1400" b="1" dirty="0">
                          <a:solidFill>
                            <a:schemeClr val="tx2"/>
                          </a:solidFill>
                          <a:latin typeface="Calibri" pitchFamily="34" charset="0"/>
                          <a:ea typeface="Calibri" pitchFamily="34" charset="-122"/>
                          <a:cs typeface="Calibri" pitchFamily="34" charset="-120"/>
                        </a:rPr>
                        <a:t>mypy · tsc</a:t>
                      </a:r>
                      <a:endParaRPr lang="en-US" sz="1200" dirty="0">
                        <a:latin typeface="Calibri" charset="0"/>
                        <a:ea typeface="Calibri" charset="0"/>
                        <a:cs typeface="Calibri" charset="0"/>
                      </a:endParaRPr>
                    </a:p>
                  </a:txBody>
                  <a:tcPr marL="101600" marR="101600" marT="63500" marB="63500" anchor="t">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Strict types</a:t>
                      </a:r>
                      <a:endParaRPr lang="en-US" sz="1200" dirty="0">
                        <a:latin typeface="Calibri" charset="0"/>
                        <a:ea typeface="Calibri" charset="0"/>
                        <a:cs typeface="Calibri" charset="0"/>
                      </a:endParaRPr>
                    </a:p>
                  </a:txBody>
                  <a:tcPr marL="101600" marR="101600" marT="63500" marB="63500" anchor="t">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r>
              <a:tr h="0">
                <a:tc>
                  <a:txBody>
                    <a:bodyPr/>
                    <a:lstStyle/>
                    <a:p>
                      <a:pPr indent="0" marL="0">
                        <a:buNone/>
                      </a:pPr>
                      <a:r>
                        <a:rPr lang="en-US" sz="1400" b="1" dirty="0">
                          <a:solidFill>
                            <a:schemeClr val="tx2"/>
                          </a:solidFill>
                          <a:latin typeface="Calibri" pitchFamily="34" charset="0"/>
                          <a:ea typeface="Calibri" pitchFamily="34" charset="-122"/>
                          <a:cs typeface="Calibri" pitchFamily="34" charset="-120"/>
                        </a:rPr>
                        <a:t>pytest</a:t>
                      </a:r>
                      <a:endParaRPr lang="en-US" sz="1200" dirty="0">
                        <a:latin typeface="Calibri" charset="0"/>
                        <a:ea typeface="Calibri" charset="0"/>
                        <a:cs typeface="Calibri" charset="0"/>
                      </a:endParaRPr>
                    </a:p>
                  </a:txBody>
                  <a:tcPr marL="101600" marR="101600" marT="63500" marB="63500" anchor="t">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Behavior, 80% branch coverage</a:t>
                      </a:r>
                      <a:endParaRPr lang="en-US" sz="1200" dirty="0">
                        <a:latin typeface="Calibri" charset="0"/>
                        <a:ea typeface="Calibri" charset="0"/>
                        <a:cs typeface="Calibri" charset="0"/>
                      </a:endParaRPr>
                    </a:p>
                  </a:txBody>
                  <a:tcPr marL="101600" marR="101600" marT="63500" marB="63500" anchor="t">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r>
              <a:tr h="0">
                <a:tc>
                  <a:txBody>
                    <a:bodyPr/>
                    <a:lstStyle/>
                    <a:p>
                      <a:pPr indent="0" marL="0">
                        <a:buNone/>
                      </a:pPr>
                      <a:r>
                        <a:rPr lang="en-US" sz="1400" b="1" dirty="0">
                          <a:solidFill>
                            <a:schemeClr val="tx2"/>
                          </a:solidFill>
                          <a:latin typeface="Calibri" pitchFamily="34" charset="0"/>
                          <a:ea typeface="Calibri" pitchFamily="34" charset="-122"/>
                          <a:cs typeface="Calibri" pitchFamily="34" charset="-120"/>
                        </a:rPr>
                        <a:t>Git hook</a:t>
                      </a:r>
                      <a:endParaRPr lang="en-US" sz="1200" dirty="0">
                        <a:latin typeface="Calibri" charset="0"/>
                        <a:ea typeface="Calibri" charset="0"/>
                        <a:cs typeface="Calibri" charset="0"/>
                      </a:endParaRPr>
                    </a:p>
                  </a:txBody>
                  <a:tcPr marL="101600" marR="101600" marT="63500" marB="63500" anchor="t">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All of the above, on every commit</a:t>
                      </a:r>
                      <a:endParaRPr lang="en-US" sz="1200" dirty="0">
                        <a:latin typeface="Calibri" charset="0"/>
                        <a:ea typeface="Calibri" charset="0"/>
                        <a:cs typeface="Calibri" charset="0"/>
                      </a:endParaRPr>
                    </a:p>
                  </a:txBody>
                  <a:tcPr marL="101600" marR="101600" marT="63500" marB="63500" anchor="t">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r>
              <a:tr h="0">
                <a:tc>
                  <a:txBody>
                    <a:bodyPr/>
                    <a:lstStyle/>
                    <a:p>
                      <a:pPr indent="0" marL="0">
                        <a:buNone/>
                      </a:pPr>
                      <a:r>
                        <a:rPr lang="en-US" sz="1400" b="1" dirty="0">
                          <a:solidFill>
                            <a:schemeClr val="tx2"/>
                          </a:solidFill>
                          <a:latin typeface="Calibri" pitchFamily="34" charset="0"/>
                          <a:ea typeface="Calibri" pitchFamily="34" charset="-122"/>
                          <a:cs typeface="Calibri" pitchFamily="34" charset="-120"/>
                        </a:rPr>
                        <a:t>Permissions</a:t>
                      </a:r>
                      <a:endParaRPr lang="en-US" sz="1200" dirty="0">
                        <a:latin typeface="Calibri" charset="0"/>
                        <a:ea typeface="Calibri" charset="0"/>
                        <a:cs typeface="Calibri" charset="0"/>
                      </a:endParaRPr>
                    </a:p>
                  </a:txBody>
                  <a:tcPr marL="101600" marR="101600" marT="63500" marB="63500" anchor="t">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No force push, no hard reset</a:t>
                      </a:r>
                      <a:endParaRPr lang="en-US" sz="1200" dirty="0">
                        <a:latin typeface="Calibri" charset="0"/>
                        <a:ea typeface="Calibri" charset="0"/>
                        <a:cs typeface="Calibri" charset="0"/>
                      </a:endParaRPr>
                    </a:p>
                  </a:txBody>
                  <a:tcPr marL="101600" marR="101600" marT="63500" marB="63500" anchor="t">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r>
            </a:tbl>
          </a:graphicData>
        </a:graphic>
      </p:graphicFrame>
      <p:sp>
        <p:nvSpPr>
          <p:cNvPr id="5" name="Prompt card"/>
          <p:cNvSpPr txBox="1"/>
          <p:nvPr/>
        </p:nvSpPr>
        <p:spPr>
          <a:xfrm>
            <a:off x="6309360" y="1325880"/>
            <a:ext cx="5330952" cy="1645920"/>
          </a:xfrm>
          <a:prstGeom prst="roundRect">
            <a:avLst>
              <a:gd name="adj" fmla="val 5556"/>
            </a:avLst>
          </a:prstGeom>
          <a:solidFill>
            <a:schemeClr val="bg1"/>
          </a:solidFill>
          <a:ln w="9525">
            <a:solidFill>
              <a:schemeClr val="accent4"/>
            </a:solidFill>
          </a:ln>
        </p:spPr>
        <p:txBody>
          <a:bodyPr wrap="square" lIns="101600" tIns="177800" rIns="177800" bIns="76200" rtlCol="0" anchor="t"/>
          <a:lstStyle/>
          <a:p>
            <a:pPr indent="0" marL="0">
              <a:spcAft>
                <a:spcPts val="200"/>
              </a:spcAft>
              <a:buNone/>
            </a:pPr>
            <a:r>
              <a:rPr lang="en-US" sz="1600" b="1" dirty="0">
                <a:solidFill>
                  <a:schemeClr val="accent2"/>
                </a:solidFill>
              </a:rPr>
              <a:t>A prompt is advice</a:t>
            </a:r>
            <a:endParaRPr lang="en-US" sz="1600" dirty="0"/>
          </a:p>
          <a:p>
            <a:pPr indent="0" marL="0">
              <a:spcAft>
                <a:spcPts val="300"/>
              </a:spcAft>
              <a:buNone/>
            </a:pPr>
            <a:r>
              <a:rPr lang="en-US" sz="1350" b="1" dirty="0">
                <a:solidFill>
                  <a:schemeClr val="tx2"/>
                </a:solidFill>
              </a:rPr>
              <a:t>Probabilistic.</a:t>
            </a:r>
            <a:pPr indent="0" marL="0">
              <a:buNone/>
            </a:pPr>
            <a:r>
              <a:rPr lang="en-US" sz="1350" dirty="0">
                <a:solidFill>
                  <a:schemeClr val="tx2"/>
                </a:solidFill>
              </a:rPr>
              <a:t> The same prompt can give a different result each time.</a:t>
            </a:r>
            <a:endParaRPr lang="en-US" sz="1600" dirty="0"/>
          </a:p>
          <a:p>
            <a:pPr marL="342900" indent="-342900">
              <a:buSzPct val="100000"/>
              <a:buChar char="•"/>
            </a:pPr>
            <a:r>
              <a:rPr lang="en-US" sz="1350" dirty="0">
                <a:solidFill>
                  <a:schemeClr val="accent5"/>
                </a:solidFill>
              </a:rPr>
              <a:t>Followed most of the time.</a:t>
            </a:r>
            <a:endParaRPr lang="en-US" sz="1600" dirty="0"/>
          </a:p>
          <a:p>
            <a:pPr marL="342900" indent="-342900">
              <a:buSzPct val="100000"/>
              <a:buChar char="•"/>
            </a:pPr>
            <a:r>
              <a:rPr lang="en-US" sz="1350" dirty="0">
                <a:solidFill>
                  <a:schemeClr val="accent5"/>
                </a:solidFill>
              </a:rPr>
              <a:t>Costs context in every session.</a:t>
            </a:r>
            <a:endParaRPr lang="en-US" sz="1600" dirty="0"/>
          </a:p>
          <a:p>
            <a:pPr marL="342900" indent="-342900">
              <a:buSzPct val="100000"/>
              <a:buChar char="•"/>
            </a:pPr>
            <a:r>
              <a:rPr lang="en-US" sz="1350" dirty="0">
                <a:solidFill>
                  <a:schemeClr val="accent5"/>
                </a:solidFill>
              </a:rPr>
              <a:t>The longer it gets, the less it is followed.</a:t>
            </a:r>
            <a:endParaRPr lang="en-US" sz="1600" dirty="0"/>
          </a:p>
        </p:txBody>
      </p:sp>
      <p:sp>
        <p:nvSpPr>
          <p:cNvPr id="6" name="Linter card"/>
          <p:cNvSpPr txBox="1"/>
          <p:nvPr/>
        </p:nvSpPr>
        <p:spPr>
          <a:xfrm>
            <a:off x="6309360" y="3108960"/>
            <a:ext cx="5330952" cy="1645920"/>
          </a:xfrm>
          <a:prstGeom prst="roundRect">
            <a:avLst>
              <a:gd name="adj" fmla="val 5556"/>
            </a:avLst>
          </a:prstGeom>
          <a:solidFill>
            <a:schemeClr val="bg1"/>
          </a:solidFill>
          <a:ln w="25400">
            <a:solidFill>
              <a:schemeClr val="accent1"/>
            </a:solidFill>
          </a:ln>
        </p:spPr>
        <p:txBody>
          <a:bodyPr wrap="square" lIns="101600" tIns="177800" rIns="177800" bIns="76200" rtlCol="0" anchor="t"/>
          <a:lstStyle/>
          <a:p>
            <a:pPr indent="0" marL="0">
              <a:spcAft>
                <a:spcPts val="200"/>
              </a:spcAft>
              <a:buNone/>
            </a:pPr>
            <a:r>
              <a:rPr lang="en-US" sz="1600" b="1" dirty="0">
                <a:solidFill>
                  <a:schemeClr val="accent2"/>
                </a:solidFill>
              </a:rPr>
              <a:t>A linter¹ is a rule</a:t>
            </a:r>
            <a:endParaRPr lang="en-US" sz="1600" dirty="0"/>
          </a:p>
          <a:p>
            <a:pPr indent="0" marL="0">
              <a:spcAft>
                <a:spcPts val="300"/>
              </a:spcAft>
              <a:buNone/>
            </a:pPr>
            <a:r>
              <a:rPr lang="en-US" sz="1350" b="1" dirty="0">
                <a:solidFill>
                  <a:schemeClr val="tx2"/>
                </a:solidFill>
              </a:rPr>
              <a:t>Deterministic.</a:t>
            </a:r>
            <a:pPr indent="0" marL="0">
              <a:buNone/>
            </a:pPr>
            <a:r>
              <a:rPr lang="en-US" sz="1350" dirty="0">
                <a:solidFill>
                  <a:schemeClr val="tx2"/>
                </a:solidFill>
              </a:rPr>
              <a:t> The same code always gets the same verdict.</a:t>
            </a:r>
            <a:endParaRPr lang="en-US" sz="1600" dirty="0"/>
          </a:p>
          <a:p>
            <a:pPr marL="342900" indent="-342900">
              <a:buSzPct val="100000"/>
              <a:buChar char="•"/>
            </a:pPr>
            <a:r>
              <a:rPr lang="en-US" sz="1350" dirty="0">
                <a:solidFill>
                  <a:schemeClr val="accent5"/>
                </a:solidFill>
              </a:rPr>
              <a:t>Enforced every time.</a:t>
            </a:r>
            <a:endParaRPr lang="en-US" sz="1600" dirty="0"/>
          </a:p>
          <a:p>
            <a:pPr marL="342900" indent="-342900">
              <a:buSzPct val="100000"/>
              <a:buChar char="•"/>
            </a:pPr>
            <a:r>
              <a:rPr lang="en-US" sz="1350" dirty="0">
                <a:solidFill>
                  <a:schemeClr val="accent5"/>
                </a:solidFill>
              </a:rPr>
              <a:t>Costs nothing until it fails.</a:t>
            </a:r>
            <a:endParaRPr lang="en-US" sz="1600" dirty="0"/>
          </a:p>
          <a:p>
            <a:pPr marL="342900" indent="-342900">
              <a:buSzPct val="100000"/>
              <a:buChar char="•"/>
            </a:pPr>
            <a:r>
              <a:rPr lang="en-US" sz="1350" dirty="0">
                <a:solidFill>
                  <a:schemeClr val="accent5"/>
                </a:solidFill>
              </a:rPr>
              <a:t>Runs in under a second.</a:t>
            </a:r>
            <a:endParaRPr lang="en-US" sz="1600" dirty="0"/>
          </a:p>
        </p:txBody>
      </p:sp>
      <p:sp>
        <p:nvSpPr>
          <p:cNvPr id="7" name="Note"/>
          <p:cNvSpPr txBox="1"/>
          <p:nvPr/>
        </p:nvSpPr>
        <p:spPr>
          <a:xfrm>
            <a:off x="548640" y="5029200"/>
            <a:ext cx="11091672" cy="548640"/>
          </a:xfrm>
          <a:prstGeom prst="roundRect">
            <a:avLst>
              <a:gd name="adj" fmla="val 16667"/>
            </a:avLst>
          </a:prstGeom>
          <a:solidFill>
            <a:schemeClr val="accent3"/>
          </a:solidFill>
          <a:ln/>
        </p:spPr>
        <p:txBody>
          <a:bodyPr wrap="square" lIns="101600" tIns="203200" rIns="203200" bIns="101600" rtlCol="0" anchor="ctr"/>
          <a:lstStyle/>
          <a:p>
            <a:pPr indent="0" marL="0">
              <a:buNone/>
            </a:pPr>
            <a:r>
              <a:rPr lang="en-US" sz="1400" dirty="0">
                <a:solidFill>
                  <a:schemeClr val="tx2"/>
                </a:solidFill>
              </a:rPr>
              <a:t>If a tool can check it, it goes in the tool's config. </a:t>
            </a:r>
            <a:pPr indent="0" marL="0">
              <a:buNone/>
            </a:pPr>
            <a:r>
              <a:rPr lang="en-US" sz="1400" b="1" dirty="0">
                <a:solidFill>
                  <a:schemeClr val="tx2"/>
                </a:solidFill>
              </a:rPr>
              <a:t>CLAUDE.md</a:t>
            </a:r>
            <a:pPr indent="0" marL="0">
              <a:buNone/>
            </a:pPr>
            <a:r>
              <a:rPr lang="en-US" sz="1400" dirty="0">
                <a:solidFill>
                  <a:schemeClr val="tx2"/>
                </a:solidFill>
              </a:rPr>
              <a:t> keeps only what no tool can check, in under 200 lines.</a:t>
            </a:r>
            <a:endParaRPr lang="en-US" sz="1400" dirty="0"/>
          </a:p>
        </p:txBody>
      </p:sp>
      <p:sp>
        <p:nvSpPr>
          <p:cNvPr id="8" name="Footnote"/>
          <p:cNvSpPr txBox="1"/>
          <p:nvPr/>
        </p:nvSpPr>
        <p:spPr>
          <a:xfrm>
            <a:off x="548640" y="5760720"/>
            <a:ext cx="11091672" cy="548640"/>
          </a:xfrm>
          <a:prstGeom prst="rect">
            <a:avLst/>
          </a:prstGeom>
          <a:noFill/>
          <a:ln/>
        </p:spPr>
        <p:txBody>
          <a:bodyPr wrap="square" lIns="0" tIns="0" rIns="0" bIns="0" rtlCol="0" anchor="t"/>
          <a:lstStyle/>
          <a:p>
            <a:pPr indent="0" marL="0">
              <a:buNone/>
            </a:pPr>
            <a:r>
              <a:rPr lang="en-US" sz="1050" dirty="0">
                <a:solidFill>
                  <a:schemeClr val="accent5"/>
                </a:solidFill>
              </a:rPr>
              <a:t>¹ </a:t>
            </a:r>
            <a:pPr indent="0" marL="0">
              <a:buNone/>
            </a:pPr>
            <a:r>
              <a:rPr lang="en-US" sz="1050" b="1" dirty="0">
                <a:solidFill>
                  <a:schemeClr val="accent5"/>
                </a:solidFill>
              </a:rPr>
              <a:t>Linter:</a:t>
            </a:r>
            <a:pPr indent="0" marL="0">
              <a:buNone/>
            </a:pPr>
            <a:r>
              <a:rPr lang="en-US" sz="1050" dirty="0">
                <a:solidFill>
                  <a:schemeClr val="accent5"/>
                </a:solidFill>
              </a:rPr>
              <a:t> a program that reads your code without running it and flags style problems, likely bugs and code smells against a fixed set of rules. Many can also fix what they find. Examples: ruff for Python, ESLint for JavaScript.</a:t>
            </a:r>
            <a:endParaRPr lang="en-US" sz="1050" dirty="0"/>
          </a:p>
        </p:txBody>
      </p:sp>
      <p:sp>
        <p:nvSpPr>
          <p:cNvPr id="25" name="Slide Number Placeholder 0"/>
          <p:cNvSpPr>
            <a:spLocks noGrp="1"/>
          </p:cNvSpPr>
          <p:nvPr>
            <p:ph type="sldNum" sz="quarter" idx="4294967295"/>
          </p:nvPr>
        </p:nvSpPr>
        <p:spPr>
          <a:xfrm>
            <a:off x="10972800" y="6446520"/>
            <a:ext cx="667512"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Kicker"/>
          <p:cNvSpPr txBox="1"/>
          <p:nvPr/>
        </p:nvSpPr>
        <p:spPr>
          <a:xfrm>
            <a:off x="548640" y="274320"/>
            <a:ext cx="8229600" cy="256032"/>
          </a:xfrm>
          <a:prstGeom prst="rect">
            <a:avLst/>
          </a:prstGeom>
          <a:noFill/>
          <a:ln/>
        </p:spPr>
        <p:txBody>
          <a:bodyPr wrap="square" lIns="0" tIns="0" rIns="0" bIns="0" rtlCol="0" anchor="ctr"/>
          <a:lstStyle/>
          <a:p>
            <a:pPr indent="0" marL="0">
              <a:buNone/>
            </a:pPr>
            <a:r>
              <a:rPr lang="en-US" sz="1200" b="1" spc="300" kern="0" dirty="0">
                <a:solidFill>
                  <a:schemeClr val="accent1"/>
                </a:solidFill>
              </a:rPr>
              <a:t>THE WORKFLOW, APPLIED</a:t>
            </a:r>
            <a:endParaRPr lang="en-US" sz="1200" dirty="0"/>
          </a:p>
        </p:txBody>
      </p:sp>
      <p:sp>
        <p:nvSpPr>
          <p:cNvPr id="3" name="Text 0"/>
          <p:cNvSpPr/>
          <p:nvPr>
            <p:ph idx="100" type="title" hasCustomPrompt="1"/>
          </p:nvPr>
        </p:nvSpPr>
        <p:spPr>
          <a:xfrm>
            <a:off x="548640" y="566928"/>
            <a:ext cx="11091672" cy="594360"/>
          </a:xfrm>
          <a:prstGeom prst="rect">
            <a:avLst/>
          </a:prstGeom>
          <a:noFill/>
          <a:ln/>
        </p:spPr>
        <p:txBody>
          <a:bodyPr wrap="square" lIns="0" tIns="0" rIns="0" bIns="0" rtlCol="0" anchor="t"/>
          <a:lstStyle/>
          <a:p>
            <a:pPr algn="l" indent="0" marL="0">
              <a:buNone/>
            </a:pPr>
            <a:r>
              <a:rPr lang="en-US" sz="2800" b="1" dirty="0">
                <a:solidFill>
                  <a:schemeClr val="tx2"/>
                </a:solidFill>
              </a:rPr>
              <a:t>Example: CV Matcher, from an empty folder in one day</a:t>
            </a:r>
            <a:endParaRPr lang="en-US" sz="2800" dirty="0"/>
          </a:p>
        </p:txBody>
      </p:sp>
      <p:sp>
        <p:nvSpPr>
          <p:cNvPr id="4" name="Lead"/>
          <p:cNvSpPr txBox="1"/>
          <p:nvPr/>
        </p:nvSpPr>
        <p:spPr>
          <a:xfrm>
            <a:off x="548640" y="1188720"/>
            <a:ext cx="11091672" cy="640080"/>
          </a:xfrm>
          <a:prstGeom prst="rect">
            <a:avLst/>
          </a:prstGeom>
          <a:noFill/>
          <a:ln/>
        </p:spPr>
        <p:txBody>
          <a:bodyPr wrap="square" lIns="0" tIns="0" rIns="0" bIns="0" rtlCol="0" anchor="t"/>
          <a:lstStyle/>
          <a:p>
            <a:pPr indent="0" marL="0">
              <a:buNone/>
            </a:pPr>
            <a:r>
              <a:rPr lang="en-US" sz="1600" dirty="0">
                <a:solidFill>
                  <a:schemeClr val="accent5"/>
                </a:solidFill>
              </a:rPr>
              <a:t>A demo app that reads CVs and job descriptions, has an LLM extract facts, ranks the CVs by meaning (embeddings in a vector store), and recommends whom to interview. Built with this workflow, step by step.</a:t>
            </a:r>
            <a:endParaRPr lang="en-US" sz="1600" dirty="0"/>
          </a:p>
        </p:txBody>
      </p:sp>
      <p:sp>
        <p:nvSpPr>
          <p:cNvPr id="5" name="project-init card"/>
          <p:cNvSpPr txBox="1"/>
          <p:nvPr/>
        </p:nvSpPr>
        <p:spPr>
          <a:xfrm>
            <a:off x="548640" y="2011680"/>
            <a:ext cx="2553462" cy="2514600"/>
          </a:xfrm>
          <a:prstGeom prst="roundRect">
            <a:avLst>
              <a:gd name="adj" fmla="val 3636"/>
            </a:avLst>
          </a:prstGeom>
          <a:solidFill>
            <a:schemeClr val="bg1"/>
          </a:solidFill>
          <a:ln w="9525">
            <a:solidFill>
              <a:schemeClr val="accent4"/>
            </a:solidFill>
          </a:ln>
        </p:spPr>
        <p:txBody>
          <a:bodyPr wrap="square" lIns="114300" tIns="152400" rIns="152400" bIns="114300" rtlCol="0" anchor="t"/>
          <a:lstStyle/>
          <a:p>
            <a:pPr indent="0" marL="0">
              <a:buNone/>
            </a:pPr>
            <a:r>
              <a:rPr lang="en-US" sz="1800" b="1" dirty="0">
                <a:solidFill>
                  <a:schemeClr val="tx2"/>
                </a:solidFill>
              </a:rPr>
              <a:t>project-init</a:t>
            </a:r>
            <a:endParaRPr lang="en-US" sz="1800" dirty="0"/>
          </a:p>
          <a:p>
            <a:pPr indent="0" marL="0">
              <a:spcAft>
                <a:spcPts val="300"/>
              </a:spcAft>
              <a:buNone/>
            </a:pPr>
            <a:r>
              <a:rPr lang="en-US" sz="1300" b="1" dirty="0">
                <a:solidFill>
                  <a:schemeClr val="accent1"/>
                </a:solidFill>
              </a:rPr>
              <a:t>12:57, one command</a:t>
            </a:r>
            <a:endParaRPr lang="en-US" sz="1800" dirty="0"/>
          </a:p>
          <a:p>
            <a:pPr indent="0" marL="0">
              <a:buNone/>
            </a:pPr>
            <a:r>
              <a:rPr lang="en-US" sz="1400" dirty="0">
                <a:solidFill>
                  <a:schemeClr val="accent5"/>
                </a:solidFill>
              </a:rPr>
              <a:t>Empty folder to a pushed repository: rules, docs, hooks, checks.</a:t>
            </a:r>
            <a:endParaRPr lang="en-US" sz="1800" dirty="0"/>
          </a:p>
        </p:txBody>
      </p:sp>
      <p:sp>
        <p:nvSpPr>
          <p:cNvPr id="6" name="Arrow"/>
          <p:cNvSpPr/>
          <p:nvPr/>
        </p:nvSpPr>
        <p:spPr>
          <a:xfrm>
            <a:off x="3129534" y="3131820"/>
            <a:ext cx="237744" cy="274320"/>
          </a:xfrm>
          <a:prstGeom prst="rightArrow">
            <a:avLst/>
          </a:prstGeom>
          <a:solidFill>
            <a:schemeClr val="accent6"/>
          </a:solidFill>
          <a:ln/>
        </p:spPr>
      </p:sp>
      <p:sp>
        <p:nvSpPr>
          <p:cNvPr id="7" name="Spec card"/>
          <p:cNvSpPr txBox="1"/>
          <p:nvPr/>
        </p:nvSpPr>
        <p:spPr>
          <a:xfrm>
            <a:off x="3394710" y="2011680"/>
            <a:ext cx="2553462" cy="2514600"/>
          </a:xfrm>
          <a:prstGeom prst="roundRect">
            <a:avLst>
              <a:gd name="adj" fmla="val 3636"/>
            </a:avLst>
          </a:prstGeom>
          <a:solidFill>
            <a:schemeClr val="bg1"/>
          </a:solidFill>
          <a:ln w="25400">
            <a:solidFill>
              <a:schemeClr val="accent1"/>
            </a:solidFill>
          </a:ln>
        </p:spPr>
        <p:txBody>
          <a:bodyPr wrap="square" lIns="114300" tIns="152400" rIns="152400" bIns="114300" rtlCol="0" anchor="t"/>
          <a:lstStyle/>
          <a:p>
            <a:pPr indent="0" marL="0">
              <a:buNone/>
            </a:pPr>
            <a:r>
              <a:rPr lang="en-US" sz="1800" b="1" dirty="0">
                <a:solidFill>
                  <a:schemeClr val="tx2"/>
                </a:solidFill>
              </a:rPr>
              <a:t>Spec</a:t>
            </a:r>
            <a:endParaRPr lang="en-US" sz="1800" dirty="0"/>
          </a:p>
          <a:p>
            <a:pPr indent="0" marL="0">
              <a:spcAft>
                <a:spcPts val="300"/>
              </a:spcAft>
              <a:buNone/>
            </a:pPr>
            <a:r>
              <a:rPr lang="en-US" sz="1300" b="1" dirty="0">
                <a:solidFill>
                  <a:schemeClr val="accent1"/>
                </a:solidFill>
              </a:rPr>
              <a:t>What</a:t>
            </a:r>
            <a:endParaRPr lang="en-US" sz="1800" dirty="0"/>
          </a:p>
          <a:p>
            <a:pPr indent="0" marL="0">
              <a:spcAft>
                <a:spcPts val="400"/>
              </a:spcAft>
              <a:buNone/>
            </a:pPr>
            <a:r>
              <a:rPr lang="en-US" sz="1050" b="1" spc="200" kern="0" dirty="0">
                <a:solidFill>
                  <a:schemeClr val="tx2"/>
                </a:solidFill>
              </a:rPr>
              <a:t>A HUMAN APPROVES</a:t>
            </a:r>
            <a:endParaRPr lang="en-US" sz="1800" dirty="0"/>
          </a:p>
          <a:p>
            <a:pPr indent="0" marL="0">
              <a:buNone/>
            </a:pPr>
            <a:r>
              <a:rPr lang="en-US" sz="1400" dirty="0">
                <a:solidFill>
                  <a:schemeClr val="accent5"/>
                </a:solidFill>
              </a:rPr>
              <a:t>A </a:t>
            </a:r>
            <a:pPr indent="0" marL="0">
              <a:buNone/>
            </a:pPr>
            <a:r>
              <a:rPr lang="en-US" sz="1400" dirty="0">
                <a:solidFill>
                  <a:schemeClr val="accent5"/>
                </a:solidFill>
                <a:latin typeface="Consolas" pitchFamily="34" charset="0"/>
                <a:ea typeface="Consolas" pitchFamily="34" charset="-122"/>
                <a:cs typeface="Consolas" pitchFamily="34" charset="-120"/>
              </a:rPr>
              <a:t>/write-spec</a:t>
            </a:r>
            <a:pPr indent="0" marL="0">
              <a:buNone/>
            </a:pPr>
            <a:r>
              <a:rPr lang="en-US" sz="1400" dirty="0">
                <a:solidFill>
                  <a:schemeClr val="accent5"/>
                </a:solidFill>
              </a:rPr>
              <a:t> interview: 34 requirements with IDs, 2 worked examples. The user cut 6 to fit a one-hour build, then approved: </a:t>
            </a:r>
            <a:pPr indent="0" marL="0">
              <a:buNone/>
            </a:pPr>
            <a:r>
              <a:rPr lang="en-US" sz="1400" i="1" dirty="0">
                <a:solidFill>
                  <a:schemeClr val="accent5"/>
                </a:solidFill>
              </a:rPr>
              <a:t>“i approve the specs”</a:t>
            </a:r>
            <a:pPr indent="0" marL="0">
              <a:buNone/>
            </a:pPr>
            <a:r>
              <a:rPr lang="en-US" sz="1400" dirty="0">
                <a:solidFill>
                  <a:schemeClr val="accent5"/>
                </a:solidFill>
              </a:rPr>
              <a:t>.</a:t>
            </a:r>
            <a:endParaRPr lang="en-US" sz="1800" dirty="0"/>
          </a:p>
        </p:txBody>
      </p:sp>
      <p:sp>
        <p:nvSpPr>
          <p:cNvPr id="8" name="Arrow"/>
          <p:cNvSpPr/>
          <p:nvPr/>
        </p:nvSpPr>
        <p:spPr>
          <a:xfrm>
            <a:off x="5975604" y="3131820"/>
            <a:ext cx="237744" cy="274320"/>
          </a:xfrm>
          <a:prstGeom prst="rightArrow">
            <a:avLst/>
          </a:prstGeom>
          <a:solidFill>
            <a:schemeClr val="accent6"/>
          </a:solidFill>
          <a:ln/>
        </p:spPr>
      </p:sp>
      <p:sp>
        <p:nvSpPr>
          <p:cNvPr id="9" name="Design card"/>
          <p:cNvSpPr txBox="1"/>
          <p:nvPr/>
        </p:nvSpPr>
        <p:spPr>
          <a:xfrm>
            <a:off x="6240780" y="2011680"/>
            <a:ext cx="2553462" cy="2514600"/>
          </a:xfrm>
          <a:prstGeom prst="roundRect">
            <a:avLst>
              <a:gd name="adj" fmla="val 3636"/>
            </a:avLst>
          </a:prstGeom>
          <a:solidFill>
            <a:schemeClr val="bg1"/>
          </a:solidFill>
          <a:ln w="9525">
            <a:solidFill>
              <a:schemeClr val="accent4"/>
            </a:solidFill>
          </a:ln>
        </p:spPr>
        <p:txBody>
          <a:bodyPr wrap="square" lIns="114300" tIns="152400" rIns="152400" bIns="114300" rtlCol="0" anchor="t"/>
          <a:lstStyle/>
          <a:p>
            <a:pPr indent="0" marL="0">
              <a:buNone/>
            </a:pPr>
            <a:r>
              <a:rPr lang="en-US" sz="1800" b="1" dirty="0">
                <a:solidFill>
                  <a:schemeClr val="tx2"/>
                </a:solidFill>
              </a:rPr>
              <a:t>Design</a:t>
            </a:r>
            <a:endParaRPr lang="en-US" sz="1800" dirty="0"/>
          </a:p>
          <a:p>
            <a:pPr indent="0" marL="0">
              <a:spcAft>
                <a:spcPts val="300"/>
              </a:spcAft>
              <a:buNone/>
            </a:pPr>
            <a:r>
              <a:rPr lang="en-US" sz="1300" b="1" dirty="0">
                <a:solidFill>
                  <a:schemeClr val="accent1"/>
                </a:solidFill>
              </a:rPr>
              <a:t>How</a:t>
            </a:r>
            <a:endParaRPr lang="en-US" sz="1800" dirty="0"/>
          </a:p>
          <a:p>
            <a:pPr indent="0" marL="0">
              <a:spcAft>
                <a:spcPts val="400"/>
              </a:spcAft>
              <a:buNone/>
            </a:pPr>
            <a:r>
              <a:rPr lang="en-US" sz="1050" b="1" spc="200" kern="0" dirty="0">
                <a:solidFill>
                  <a:schemeClr val="tx2"/>
                </a:solidFill>
              </a:rPr>
              <a:t>A HUMAN DESIGNS</a:t>
            </a:r>
            <a:endParaRPr lang="en-US" sz="1800" dirty="0"/>
          </a:p>
          <a:p>
            <a:pPr indent="0" marL="0">
              <a:buNone/>
            </a:pPr>
            <a:r>
              <a:rPr lang="en-US" sz="1400" dirty="0">
                <a:solidFill>
                  <a:schemeClr val="accent5"/>
                </a:solidFill>
              </a:rPr>
              <a:t>14 decisions: FastAPI, OpenAI, a Chroma vector store. Five UI mockups. Approved by the user, with one rule exception written down.</a:t>
            </a:r>
            <a:endParaRPr lang="en-US" sz="1800" dirty="0"/>
          </a:p>
        </p:txBody>
      </p:sp>
      <p:sp>
        <p:nvSpPr>
          <p:cNvPr id="10" name="Arrow"/>
          <p:cNvSpPr/>
          <p:nvPr/>
        </p:nvSpPr>
        <p:spPr>
          <a:xfrm>
            <a:off x="8821674" y="3131820"/>
            <a:ext cx="237744" cy="274320"/>
          </a:xfrm>
          <a:prstGeom prst="rightArrow">
            <a:avLst/>
          </a:prstGeom>
          <a:solidFill>
            <a:schemeClr val="accent6"/>
          </a:solidFill>
          <a:ln/>
        </p:spPr>
      </p:sp>
      <p:sp>
        <p:nvSpPr>
          <p:cNvPr id="11" name="Plan card"/>
          <p:cNvSpPr txBox="1"/>
          <p:nvPr/>
        </p:nvSpPr>
        <p:spPr>
          <a:xfrm>
            <a:off x="9086850" y="2011680"/>
            <a:ext cx="2553462" cy="2514600"/>
          </a:xfrm>
          <a:prstGeom prst="roundRect">
            <a:avLst>
              <a:gd name="adj" fmla="val 3636"/>
            </a:avLst>
          </a:prstGeom>
          <a:solidFill>
            <a:schemeClr val="bg1"/>
          </a:solidFill>
          <a:ln w="9525">
            <a:solidFill>
              <a:schemeClr val="accent4"/>
            </a:solidFill>
          </a:ln>
        </p:spPr>
        <p:txBody>
          <a:bodyPr wrap="square" lIns="114300" tIns="152400" rIns="152400" bIns="114300" rtlCol="0" anchor="t"/>
          <a:lstStyle/>
          <a:p>
            <a:pPr indent="0" marL="0">
              <a:buNone/>
            </a:pPr>
            <a:r>
              <a:rPr lang="en-US" sz="1800" b="1" dirty="0">
                <a:solidFill>
                  <a:schemeClr val="tx2"/>
                </a:solidFill>
              </a:rPr>
              <a:t>Plan</a:t>
            </a:r>
            <a:endParaRPr lang="en-US" sz="1800" dirty="0"/>
          </a:p>
          <a:p>
            <a:pPr indent="0" marL="0">
              <a:spcAft>
                <a:spcPts val="300"/>
              </a:spcAft>
              <a:buNone/>
            </a:pPr>
            <a:r>
              <a:rPr lang="en-US" sz="1300" b="1" dirty="0">
                <a:solidFill>
                  <a:schemeClr val="accent1"/>
                </a:solidFill>
              </a:rPr>
              <a:t>Implementation</a:t>
            </a:r>
            <a:endParaRPr lang="en-US" sz="1800" dirty="0"/>
          </a:p>
          <a:p>
            <a:pPr indent="0" marL="0">
              <a:spcAft>
                <a:spcPts val="400"/>
              </a:spcAft>
              <a:buNone/>
            </a:pPr>
            <a:r>
              <a:rPr lang="en-US" sz="1050" b="1" spc="200" kern="0" dirty="0">
                <a:solidFill>
                  <a:schemeClr val="tx2"/>
                </a:solidFill>
              </a:rPr>
              <a:t>THE AI BUILDS</a:t>
            </a:r>
            <a:endParaRPr lang="en-US" sz="1800" dirty="0"/>
          </a:p>
          <a:p>
            <a:pPr indent="0" marL="0">
              <a:buNone/>
            </a:pPr>
            <a:r>
              <a:rPr lang="en-US" sz="1400" dirty="0">
                <a:solidFill>
                  <a:schemeClr val="accent5"/>
                </a:solidFill>
              </a:rPr>
              <a:t>13 milestones, each with its tests, model and effort. </a:t>
            </a:r>
            <a:pPr indent="0" marL="0">
              <a:buNone/>
            </a:pPr>
            <a:r>
              <a:rPr lang="en-US" sz="1400" dirty="0">
                <a:solidFill>
                  <a:schemeClr val="accent5"/>
                </a:solidFill>
                <a:latin typeface="Consolas" pitchFamily="34" charset="0"/>
                <a:ea typeface="Consolas" pitchFamily="34" charset="-122"/>
                <a:cs typeface="Consolas" pitchFamily="34" charset="-120"/>
              </a:rPr>
              <a:t>milestones-runner.py</a:t>
            </a:r>
            <a:pPr indent="0" marL="0">
              <a:buNone/>
            </a:pPr>
            <a:r>
              <a:rPr lang="en-US" sz="1400" dirty="0">
                <a:solidFill>
                  <a:schemeClr val="accent5"/>
                </a:solidFill>
              </a:rPr>
              <a:t> ran all 13, one fresh session each.</a:t>
            </a:r>
            <a:endParaRPr lang="en-US" sz="1800" dirty="0"/>
          </a:p>
        </p:txBody>
      </p:sp>
      <p:sp>
        <p:nvSpPr>
          <p:cNvPr id="12" name="Build card"/>
          <p:cNvSpPr txBox="1"/>
          <p:nvPr/>
        </p:nvSpPr>
        <p:spPr>
          <a:xfrm>
            <a:off x="548640" y="4754880"/>
            <a:ext cx="11091672" cy="1508760"/>
          </a:xfrm>
          <a:prstGeom prst="roundRect">
            <a:avLst>
              <a:gd name="adj" fmla="val 6061"/>
            </a:avLst>
          </a:prstGeom>
          <a:solidFill>
            <a:schemeClr val="accent3"/>
          </a:solidFill>
          <a:ln w="9525">
            <a:solidFill>
              <a:schemeClr val="accent3"/>
            </a:solidFill>
          </a:ln>
        </p:spPr>
        <p:txBody>
          <a:bodyPr wrap="square" lIns="127000" tIns="203200" rIns="203200" bIns="101600" rtlCol="0" anchor="t"/>
          <a:lstStyle/>
          <a:p>
            <a:pPr indent="0" marL="0">
              <a:spcAft>
                <a:spcPts val="500"/>
              </a:spcAft>
              <a:buNone/>
            </a:pPr>
            <a:r>
              <a:rPr lang="en-US" sz="1600" b="1" dirty="0">
                <a:solidFill>
                  <a:schemeClr val="tx2"/>
                </a:solidFill>
              </a:rPr>
              <a:t>The build itself was short, because the documents had already settled what to build</a:t>
            </a:r>
            <a:endParaRPr lang="en-US" sz="1600" dirty="0"/>
          </a:p>
          <a:p>
            <a:pPr marL="342900" indent="-342900">
              <a:spcAft>
                <a:spcPts val="300"/>
              </a:spcAft>
              <a:buSzPct val="100000"/>
              <a:buChar char="•"/>
            </a:pPr>
            <a:r>
              <a:rPr lang="en-US" sz="1400" dirty="0">
                <a:solidFill>
                  <a:schemeClr val="accent5"/>
                </a:solidFill>
              </a:rPr>
              <a:t>Thirteen milestones, about 84 minutes of AI time in total, between 20:39 and 00:34. Twelve ran on Sonnet, the pipeline on Opus.</a:t>
            </a:r>
            <a:endParaRPr lang="en-US" sz="1600" dirty="0"/>
          </a:p>
          <a:p>
            <a:pPr marL="342900" indent="-342900">
              <a:buSzPct val="100000"/>
              <a:buChar char="•"/>
            </a:pPr>
            <a:r>
              <a:rPr lang="en-US" sz="1400" dirty="0">
                <a:solidFill>
                  <a:schemeClr val="accent5"/>
                </a:solidFill>
              </a:rPr>
              <a:t>More than two hours of that window were spent waiting for a person (next slide).</a:t>
            </a:r>
            <a:endParaRPr lang="en-US" sz="1600" dirty="0"/>
          </a:p>
        </p:txBody>
      </p:sp>
      <p:sp>
        <p:nvSpPr>
          <p:cNvPr id="25" name="Slide Number Placeholder 0"/>
          <p:cNvSpPr>
            <a:spLocks noGrp="1"/>
          </p:cNvSpPr>
          <p:nvPr>
            <p:ph type="sldNum" sz="quarter" idx="4294967295"/>
          </p:nvPr>
        </p:nvSpPr>
        <p:spPr>
          <a:xfrm>
            <a:off x="10972800" y="6446520"/>
            <a:ext cx="667512"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Kicker"/>
          <p:cNvSpPr txBox="1"/>
          <p:nvPr/>
        </p:nvSpPr>
        <p:spPr>
          <a:xfrm>
            <a:off x="548640" y="274320"/>
            <a:ext cx="8229600" cy="256032"/>
          </a:xfrm>
          <a:prstGeom prst="rect">
            <a:avLst/>
          </a:prstGeom>
          <a:noFill/>
          <a:ln/>
        </p:spPr>
        <p:txBody>
          <a:bodyPr wrap="square" lIns="0" tIns="0" rIns="0" bIns="0" rtlCol="0" anchor="ctr"/>
          <a:lstStyle/>
          <a:p>
            <a:pPr indent="0" marL="0">
              <a:buNone/>
            </a:pPr>
            <a:r>
              <a:rPr lang="en-US" sz="1200" b="1" spc="300" kern="0" dirty="0">
                <a:solidFill>
                  <a:schemeClr val="accent1"/>
                </a:solidFill>
              </a:rPr>
              <a:t>THE WORKFLOW, APPLIED</a:t>
            </a:r>
            <a:endParaRPr lang="en-US" sz="1200" dirty="0"/>
          </a:p>
        </p:txBody>
      </p:sp>
      <p:sp>
        <p:nvSpPr>
          <p:cNvPr id="3" name="Text 0"/>
          <p:cNvSpPr/>
          <p:nvPr>
            <p:ph idx="100" type="title" hasCustomPrompt="1"/>
          </p:nvPr>
        </p:nvSpPr>
        <p:spPr>
          <a:xfrm>
            <a:off x="548640" y="566928"/>
            <a:ext cx="11091672" cy="594360"/>
          </a:xfrm>
          <a:prstGeom prst="rect">
            <a:avLst/>
          </a:prstGeom>
          <a:noFill/>
          <a:ln/>
        </p:spPr>
        <p:txBody>
          <a:bodyPr wrap="square" lIns="0" tIns="0" rIns="0" bIns="0" rtlCol="0" anchor="t"/>
          <a:lstStyle/>
          <a:p>
            <a:pPr algn="l" indent="0" marL="0">
              <a:buNone/>
            </a:pPr>
            <a:r>
              <a:rPr lang="en-US" sz="2800" b="1" dirty="0">
                <a:solidFill>
                  <a:schemeClr val="tx2"/>
                </a:solidFill>
              </a:rPr>
              <a:t>The AI stops and asks. A human decides.</a:t>
            </a:r>
            <a:endParaRPr lang="en-US" sz="2800" dirty="0"/>
          </a:p>
        </p:txBody>
      </p:sp>
      <p:graphicFrame>
        <p:nvGraphicFramePr>
          <p:cNvPr id="11" name="Gates table"/>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1737360"/>
                <a:gridCol w="4663440"/>
                <a:gridCol w="4690872"/>
              </a:tblGrid>
              <a:tr h="0">
                <a:tc>
                  <a:txBody>
                    <a:bodyPr/>
                    <a:lstStyle/>
                    <a:p>
                      <a:pPr indent="0" marL="0">
                        <a:buNone/>
                      </a:pPr>
                      <a:r>
                        <a:rPr lang="en-US" sz="1500" b="1" dirty="0">
                          <a:solidFill>
                            <a:schemeClr val="accent2"/>
                          </a:solidFill>
                          <a:latin typeface="Calibri" pitchFamily="34" charset="0"/>
                          <a:ea typeface="Calibri" pitchFamily="34" charset="-122"/>
                          <a:cs typeface="Calibri" pitchFamily="34" charset="-120"/>
                        </a:rPr>
                        <a:t>Moment</a:t>
                      </a:r>
                      <a:endParaRPr lang="en-US" sz="1500" dirty="0">
                        <a:latin typeface="Calibri" charset="0"/>
                        <a:ea typeface="Calibri" charset="0"/>
                        <a:cs typeface="Calibri" charset="0"/>
                      </a:endParaRPr>
                    </a:p>
                  </a:txBody>
                  <a:tcPr marL="101600" marR="101600" marT="63500" marB="6350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accent3"/>
                    </a:solidFill>
                  </a:tcPr>
                </a:tc>
                <a:tc>
                  <a:txBody>
                    <a:bodyPr/>
                    <a:lstStyle/>
                    <a:p>
                      <a:pPr indent="0" marL="0">
                        <a:buNone/>
                      </a:pPr>
                      <a:r>
                        <a:rPr lang="en-US" sz="1500" b="1" dirty="0">
                          <a:solidFill>
                            <a:schemeClr val="accent2"/>
                          </a:solidFill>
                          <a:latin typeface="Calibri" pitchFamily="34" charset="0"/>
                          <a:ea typeface="Calibri" pitchFamily="34" charset="-122"/>
                          <a:cs typeface="Calibri" pitchFamily="34" charset="-120"/>
                        </a:rPr>
                        <a:t>What the AI could not decide alone</a:t>
                      </a:r>
                      <a:endParaRPr lang="en-US" sz="1500" dirty="0">
                        <a:latin typeface="Calibri" charset="0"/>
                        <a:ea typeface="Calibri" charset="0"/>
                        <a:cs typeface="Calibri" charset="0"/>
                      </a:endParaRPr>
                    </a:p>
                  </a:txBody>
                  <a:tcPr marL="101600" marR="101600" marT="63500" marB="6350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accent3"/>
                    </a:solidFill>
                  </a:tcPr>
                </a:tc>
                <a:tc>
                  <a:txBody>
                    <a:bodyPr/>
                    <a:lstStyle/>
                    <a:p>
                      <a:pPr indent="0" marL="0">
                        <a:buNone/>
                      </a:pPr>
                      <a:r>
                        <a:rPr lang="en-US" sz="1500" b="1" dirty="0">
                          <a:solidFill>
                            <a:schemeClr val="accent2"/>
                          </a:solidFill>
                          <a:latin typeface="Calibri" pitchFamily="34" charset="0"/>
                          <a:ea typeface="Calibri" pitchFamily="34" charset="-122"/>
                          <a:cs typeface="Calibri" pitchFamily="34" charset="-120"/>
                        </a:rPr>
                        <a:t>The human’s answer</a:t>
                      </a:r>
                      <a:endParaRPr lang="en-US" sz="1500" dirty="0">
                        <a:latin typeface="Calibri" charset="0"/>
                        <a:ea typeface="Calibri" charset="0"/>
                        <a:cs typeface="Calibri" charset="0"/>
                      </a:endParaRPr>
                    </a:p>
                  </a:txBody>
                  <a:tcPr marL="101600" marR="101600" marT="63500" marB="63500"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accent3"/>
                    </a:solidFill>
                  </a:tcPr>
                </a:tc>
              </a:tr>
              <a:tr h="0">
                <a:tc>
                  <a:txBody>
                    <a:bodyPr/>
                    <a:lstStyle/>
                    <a:p>
                      <a:pPr indent="0" marL="0">
                        <a:buNone/>
                      </a:pPr>
                      <a:r>
                        <a:rPr lang="en-US" sz="1500" b="1" dirty="0">
                          <a:solidFill>
                            <a:schemeClr val="tx2"/>
                          </a:solidFill>
                          <a:latin typeface="Calibri" pitchFamily="34" charset="0"/>
                          <a:ea typeface="Calibri" pitchFamily="34" charset="-122"/>
                          <a:cs typeface="Calibri" pitchFamily="34" charset="-120"/>
                        </a:rPr>
                        <a:t>Spec</a:t>
                      </a:r>
                      <a:endParaRPr lang="en-US" sz="1200" dirty="0">
                        <a:latin typeface="Calibri" charset="0"/>
                        <a:ea typeface="Calibri" charset="0"/>
                        <a:cs typeface="Calibri" charset="0"/>
                      </a:endParaRPr>
                    </a:p>
                  </a:txBody>
                  <a:tcPr marL="101600" marR="101600" marT="63500" marB="63500" anchor="t">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Which requirements matter, and what is out of scope.</a:t>
                      </a:r>
                      <a:endParaRPr lang="en-US" sz="1200" dirty="0">
                        <a:latin typeface="Calibri" charset="0"/>
                        <a:ea typeface="Calibri" charset="0"/>
                        <a:cs typeface="Calibri" charset="0"/>
                      </a:endParaRPr>
                    </a:p>
                  </a:txBody>
                  <a:tcPr marL="101600" marR="101600" marT="63500" marB="63500" anchor="t">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Cut 6 requirements to keep the build to about an hour, then approved the whole spec.</a:t>
                      </a:r>
                      <a:endParaRPr lang="en-US" sz="1200" dirty="0">
                        <a:latin typeface="Calibri" charset="0"/>
                        <a:ea typeface="Calibri" charset="0"/>
                        <a:cs typeface="Calibri" charset="0"/>
                      </a:endParaRPr>
                    </a:p>
                  </a:txBody>
                  <a:tcPr marL="101600" marR="101600" marT="63500" marB="63500" anchor="t">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r>
              <a:tr h="0">
                <a:tc>
                  <a:txBody>
                    <a:bodyPr/>
                    <a:lstStyle/>
                    <a:p>
                      <a:pPr indent="0" marL="0">
                        <a:buNone/>
                      </a:pPr>
                      <a:r>
                        <a:rPr lang="en-US" sz="1500" b="1" dirty="0">
                          <a:solidFill>
                            <a:schemeClr val="tx2"/>
                          </a:solidFill>
                          <a:latin typeface="Calibri" pitchFamily="34" charset="0"/>
                          <a:ea typeface="Calibri" pitchFamily="34" charset="-122"/>
                          <a:cs typeface="Calibri" pitchFamily="34" charset="-120"/>
                        </a:rPr>
                        <a:t>Design</a:t>
                      </a:r>
                      <a:endParaRPr lang="en-US" sz="1200" dirty="0">
                        <a:latin typeface="Calibri" charset="0"/>
                        <a:ea typeface="Calibri" charset="0"/>
                        <a:cs typeface="Calibri" charset="0"/>
                      </a:endParaRPr>
                    </a:p>
                  </a:txBody>
                  <a:tcPr marL="101600" marR="101600" marT="63500" marB="63500" anchor="t">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A failed LLM call must not hide the other results (ERR-002), but the rules say never to catch an error in order to continue.</a:t>
                      </a:r>
                      <a:endParaRPr lang="en-US" sz="1200" dirty="0">
                        <a:latin typeface="Calibri" charset="0"/>
                        <a:ea typeface="Calibri" charset="0"/>
                        <a:cs typeface="Calibri" charset="0"/>
                      </a:endParaRPr>
                    </a:p>
                  </a:txBody>
                  <a:tcPr marL="101600" marR="101600" marT="63500" marB="63500" anchor="t">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Approved one deliberate exception (DEC-008), written in the design. The alternative was to withdraw ERR-002.</a:t>
                      </a:r>
                      <a:endParaRPr lang="en-US" sz="1200" dirty="0">
                        <a:latin typeface="Calibri" charset="0"/>
                        <a:ea typeface="Calibri" charset="0"/>
                        <a:cs typeface="Calibri" charset="0"/>
                      </a:endParaRPr>
                    </a:p>
                  </a:txBody>
                  <a:tcPr marL="101600" marR="101600" marT="63500" marB="63500" anchor="t">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r>
              <a:tr h="0">
                <a:tc>
                  <a:txBody>
                    <a:bodyPr/>
                    <a:lstStyle/>
                    <a:p>
                      <a:pPr indent="0" marL="0">
                        <a:buNone/>
                      </a:pPr>
                      <a:r>
                        <a:rPr lang="en-US" sz="1500" b="1" dirty="0">
                          <a:solidFill>
                            <a:schemeClr val="tx2"/>
                          </a:solidFill>
                          <a:latin typeface="Calibri" pitchFamily="34" charset="0"/>
                          <a:ea typeface="Calibri" pitchFamily="34" charset="-122"/>
                          <a:cs typeface="Calibri" pitchFamily="34" charset="-120"/>
                        </a:rPr>
                        <a:t>M7 blocked</a:t>
                      </a:r>
                      <a:endParaRPr lang="en-US" sz="1200" dirty="0">
                        <a:latin typeface="Calibri" charset="0"/>
                        <a:ea typeface="Calibri" charset="0"/>
                        <a:cs typeface="Calibri" charset="0"/>
                      </a:endParaRPr>
                    </a:p>
                    <a:p>
                      <a:pPr indent="0" marL="0">
                        <a:buNone/>
                      </a:pPr>
                      <a:r>
                        <a:rPr lang="en-US" sz="1500" b="1" dirty="0">
                          <a:solidFill>
                            <a:schemeClr val="tx2"/>
                          </a:solidFill>
                          <a:latin typeface="Calibri" pitchFamily="34" charset="0"/>
                          <a:ea typeface="Calibri" pitchFamily="34" charset="-122"/>
                          <a:cs typeface="Calibri" pitchFamily="34" charset="-120"/>
                        </a:rPr>
                        <a:t>21:26</a:t>
                      </a:r>
                      <a:endParaRPr lang="en-US" sz="1200" dirty="0">
                        <a:latin typeface="Calibri" charset="0"/>
                        <a:ea typeface="Calibri" charset="0"/>
                        <a:cs typeface="Calibri" charset="0"/>
                      </a:endParaRPr>
                    </a:p>
                  </a:txBody>
                  <a:tcPr marL="101600" marR="101600" marT="63500" marB="63500" anchor="t">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The milestone needs FastAPI installed. An unattended run may not install packages.</a:t>
                      </a:r>
                      <a:endParaRPr lang="en-US" sz="1200" dirty="0">
                        <a:latin typeface="Calibri" charset="0"/>
                        <a:ea typeface="Calibri" charset="0"/>
                        <a:cs typeface="Calibri" charset="0"/>
                      </a:endParaRPr>
                    </a:p>
                  </a:txBody>
                  <a:tcPr marL="101600" marR="101600" marT="63500" marB="63500" anchor="t">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Approved the install in </a:t>
                      </a:r>
                      <a:pPr indent="0" marL="0">
                        <a:buNone/>
                      </a:pPr>
                      <a:r>
                        <a:rPr lang="en-US" sz="1500" dirty="0">
                          <a:solidFill>
                            <a:schemeClr val="tx1"/>
                          </a:solidFill>
                          <a:latin typeface="Consolas" pitchFamily="34" charset="0"/>
                          <a:ea typeface="Consolas" pitchFamily="34" charset="-122"/>
                          <a:cs typeface="Consolas" pitchFamily="34" charset="-120"/>
                        </a:rPr>
                        <a:t>plan.md</a:t>
                      </a:r>
                      <a:pPr indent="0" marL="0">
                        <a:buNone/>
                      </a:pPr>
                      <a:r>
                        <a:rPr lang="en-US" sz="1500" dirty="0">
                          <a:solidFill>
                            <a:schemeClr val="tx1"/>
                          </a:solidFill>
                          <a:latin typeface="Calibri" pitchFamily="34" charset="0"/>
                          <a:ea typeface="Calibri" pitchFamily="34" charset="-122"/>
                          <a:cs typeface="Calibri" pitchFamily="34" charset="-120"/>
                        </a:rPr>
                        <a:t> at 23:33. The runner continued; M7 took 2 minutes.</a:t>
                      </a:r>
                      <a:endParaRPr lang="en-US" sz="1200" dirty="0">
                        <a:latin typeface="Calibri" charset="0"/>
                        <a:ea typeface="Calibri" charset="0"/>
                        <a:cs typeface="Calibri" charset="0"/>
                      </a:endParaRPr>
                    </a:p>
                  </a:txBody>
                  <a:tcPr marL="101600" marR="101600" marT="63500" marB="63500" anchor="t">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r>
              <a:tr h="0">
                <a:tc>
                  <a:txBody>
                    <a:bodyPr/>
                    <a:lstStyle/>
                    <a:p>
                      <a:pPr indent="0" marL="0">
                        <a:buNone/>
                      </a:pPr>
                      <a:r>
                        <a:rPr lang="en-US" sz="1500" b="1" dirty="0">
                          <a:solidFill>
                            <a:schemeClr val="tx2"/>
                          </a:solidFill>
                          <a:latin typeface="Calibri" pitchFamily="34" charset="0"/>
                          <a:ea typeface="Calibri" pitchFamily="34" charset="-122"/>
                          <a:cs typeface="Calibri" pitchFamily="34" charset="-120"/>
                        </a:rPr>
                        <a:t>M11 blocked</a:t>
                      </a:r>
                      <a:endParaRPr lang="en-US" sz="1200" dirty="0">
                        <a:latin typeface="Calibri" charset="0"/>
                        <a:ea typeface="Calibri" charset="0"/>
                        <a:cs typeface="Calibri" charset="0"/>
                      </a:endParaRPr>
                    </a:p>
                    <a:p>
                      <a:pPr indent="0" marL="0">
                        <a:buNone/>
                      </a:pPr>
                      <a:r>
                        <a:rPr lang="en-US" sz="1500" b="1" dirty="0">
                          <a:solidFill>
                            <a:schemeClr val="tx2"/>
                          </a:solidFill>
                          <a:latin typeface="Calibri" pitchFamily="34" charset="0"/>
                          <a:ea typeface="Calibri" pitchFamily="34" charset="-122"/>
                          <a:cs typeface="Calibri" pitchFamily="34" charset="-120"/>
                        </a:rPr>
                        <a:t>23:54</a:t>
                      </a:r>
                      <a:endParaRPr lang="en-US" sz="1200" dirty="0">
                        <a:latin typeface="Calibri" charset="0"/>
                        <a:ea typeface="Calibri" charset="0"/>
                        <a:cs typeface="Calibri" charset="0"/>
                      </a:endParaRPr>
                    </a:p>
                  </a:txBody>
                  <a:tcPr marL="101600" marR="101600" marT="63500" marB="63500" anchor="t">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The lint config rejects the CSS class names the rules require, and points at the wrong file paths. Editing it needs approval.</a:t>
                      </a:r>
                      <a:endParaRPr lang="en-US" sz="1200" dirty="0">
                        <a:latin typeface="Calibri" charset="0"/>
                        <a:ea typeface="Calibri" charset="0"/>
                        <a:cs typeface="Calibri" charset="0"/>
                      </a:endParaRPr>
                    </a:p>
                  </a:txBody>
                  <a:tcPr marL="101600" marR="101600" marT="63500" marB="63500" anchor="t">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Chose option 2 of 2: hyphenated class names, docs updated, ESLint paths fixed. Committed at 00:09; the runner then finished M11 to M13 in 23 minutes.</a:t>
                      </a:r>
                      <a:endParaRPr lang="en-US" sz="1200" dirty="0">
                        <a:latin typeface="Calibri" charset="0"/>
                        <a:ea typeface="Calibri" charset="0"/>
                        <a:cs typeface="Calibri" charset="0"/>
                      </a:endParaRPr>
                    </a:p>
                  </a:txBody>
                  <a:tcPr marL="101600" marR="101600" marT="63500" marB="63500" anchor="t">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r>
            </a:tbl>
          </a:graphicData>
        </a:graphic>
      </p:graphicFrame>
      <p:sp>
        <p:nvSpPr>
          <p:cNvPr id="5" name="Note"/>
          <p:cNvSpPr txBox="1"/>
          <p:nvPr/>
        </p:nvSpPr>
        <p:spPr>
          <a:xfrm>
            <a:off x="548640" y="5349240"/>
            <a:ext cx="11091672" cy="777240"/>
          </a:xfrm>
          <a:prstGeom prst="roundRect">
            <a:avLst>
              <a:gd name="adj" fmla="val 11765"/>
            </a:avLst>
          </a:prstGeom>
          <a:solidFill>
            <a:schemeClr val="accent3"/>
          </a:solidFill>
          <a:ln/>
        </p:spPr>
        <p:txBody>
          <a:bodyPr wrap="square" lIns="101600" tIns="203200" rIns="203200" bIns="101600" rtlCol="0" anchor="ctr"/>
          <a:lstStyle/>
          <a:p>
            <a:pPr indent="0" marL="0">
              <a:buNone/>
            </a:pPr>
            <a:r>
              <a:rPr lang="en-US" sz="1400" dirty="0">
                <a:solidFill>
                  <a:schemeClr val="tx2"/>
                </a:solidFill>
              </a:rPr>
              <a:t>Both times the AI took no shortcut: no lint-disable comment, no workaround for the refused install. It stopped, wrote the exact question into the plan, and waited.</a:t>
            </a:r>
            <a:endParaRPr lang="en-US" sz="1400" dirty="0"/>
          </a:p>
        </p:txBody>
      </p:sp>
      <p:sp>
        <p:nvSpPr>
          <p:cNvPr id="25" name="Slide Number Placeholder 0"/>
          <p:cNvSpPr>
            <a:spLocks noGrp="1"/>
          </p:cNvSpPr>
          <p:nvPr>
            <p:ph type="sldNum" sz="quarter" idx="4294967295"/>
          </p:nvPr>
        </p:nvSpPr>
        <p:spPr>
          <a:xfrm>
            <a:off x="10972800" y="6446520"/>
            <a:ext cx="667512"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Kicker"/>
          <p:cNvSpPr txBox="1"/>
          <p:nvPr/>
        </p:nvSpPr>
        <p:spPr>
          <a:xfrm>
            <a:off x="548640" y="274320"/>
            <a:ext cx="8229600" cy="256032"/>
          </a:xfrm>
          <a:prstGeom prst="rect">
            <a:avLst/>
          </a:prstGeom>
          <a:noFill/>
          <a:ln/>
        </p:spPr>
        <p:txBody>
          <a:bodyPr wrap="square" lIns="0" tIns="0" rIns="0" bIns="0" rtlCol="0" anchor="ctr"/>
          <a:lstStyle/>
          <a:p>
            <a:pPr indent="0" marL="0">
              <a:buNone/>
            </a:pPr>
            <a:r>
              <a:rPr lang="en-US" sz="1200" b="1" spc="300" kern="0" dirty="0">
                <a:solidFill>
                  <a:schemeClr val="accent1"/>
                </a:solidFill>
              </a:rPr>
              <a:t>THE WORKFLOW, APPLIED</a:t>
            </a:r>
            <a:endParaRPr lang="en-US" sz="1200" dirty="0"/>
          </a:p>
        </p:txBody>
      </p:sp>
      <p:sp>
        <p:nvSpPr>
          <p:cNvPr id="3" name="Text 0"/>
          <p:cNvSpPr/>
          <p:nvPr>
            <p:ph idx="100" type="title" hasCustomPrompt="1"/>
          </p:nvPr>
        </p:nvSpPr>
        <p:spPr>
          <a:xfrm>
            <a:off x="548640" y="566928"/>
            <a:ext cx="11091672" cy="594360"/>
          </a:xfrm>
          <a:prstGeom prst="rect">
            <a:avLst/>
          </a:prstGeom>
          <a:noFill/>
          <a:ln/>
        </p:spPr>
        <p:txBody>
          <a:bodyPr wrap="square" lIns="0" tIns="0" rIns="0" bIns="0" rtlCol="0" anchor="t"/>
          <a:lstStyle/>
          <a:p>
            <a:pPr algn="l" indent="0" marL="0">
              <a:buNone/>
            </a:pPr>
            <a:r>
              <a:rPr lang="en-US" sz="2800" b="1" dirty="0">
                <a:solidFill>
                  <a:schemeClr val="tx2"/>
                </a:solidFill>
              </a:rPr>
              <a:t>What it produced: a complete, tested app</a:t>
            </a:r>
            <a:endParaRPr lang="en-US" sz="2800" dirty="0"/>
          </a:p>
        </p:txBody>
      </p:sp>
      <p:sp>
        <p:nvSpPr>
          <p:cNvPr id="4" name="Stat 1"/>
          <p:cNvSpPr txBox="1"/>
          <p:nvPr/>
        </p:nvSpPr>
        <p:spPr>
          <a:xfrm>
            <a:off x="548640" y="1280160"/>
            <a:ext cx="2635758" cy="1188720"/>
          </a:xfrm>
          <a:prstGeom prst="roundRect">
            <a:avLst>
              <a:gd name="adj" fmla="val 7692"/>
            </a:avLst>
          </a:prstGeom>
          <a:solidFill>
            <a:schemeClr val="bg1"/>
          </a:solidFill>
          <a:ln w="9525">
            <a:solidFill>
              <a:schemeClr val="accent4"/>
            </a:solidFill>
          </a:ln>
        </p:spPr>
        <p:txBody>
          <a:bodyPr wrap="square" lIns="76200" tIns="152400" rIns="152400" bIns="76200" rtlCol="0" anchor="t"/>
          <a:lstStyle/>
          <a:p>
            <a:pPr indent="0" marL="0">
              <a:spcAft>
                <a:spcPts val="100"/>
              </a:spcAft>
              <a:buNone/>
            </a:pPr>
            <a:r>
              <a:rPr lang="en-US" sz="2800" b="1" dirty="0">
                <a:solidFill>
                  <a:schemeClr val="accent2"/>
                </a:solidFill>
              </a:rPr>
              <a:t>131</a:t>
            </a:r>
            <a:endParaRPr lang="en-US" sz="2800" dirty="0"/>
          </a:p>
          <a:p>
            <a:pPr indent="0" marL="0">
              <a:buNone/>
            </a:pPr>
            <a:r>
              <a:rPr lang="en-US" sz="1100" dirty="0">
                <a:solidFill>
                  <a:schemeClr val="accent5"/>
                </a:solidFill>
              </a:rPr>
              <a:t>tests pass, including browser tests, each named after the requirement it verifies</a:t>
            </a:r>
            <a:endParaRPr lang="en-US" sz="2800" dirty="0"/>
          </a:p>
        </p:txBody>
      </p:sp>
      <p:sp>
        <p:nvSpPr>
          <p:cNvPr id="5" name="Stat 2"/>
          <p:cNvSpPr txBox="1"/>
          <p:nvPr/>
        </p:nvSpPr>
        <p:spPr>
          <a:xfrm>
            <a:off x="3367278" y="1280160"/>
            <a:ext cx="2635758" cy="1188720"/>
          </a:xfrm>
          <a:prstGeom prst="roundRect">
            <a:avLst>
              <a:gd name="adj" fmla="val 7692"/>
            </a:avLst>
          </a:prstGeom>
          <a:solidFill>
            <a:schemeClr val="bg1"/>
          </a:solidFill>
          <a:ln w="9525">
            <a:solidFill>
              <a:schemeClr val="accent4"/>
            </a:solidFill>
          </a:ln>
        </p:spPr>
        <p:txBody>
          <a:bodyPr wrap="square" lIns="76200" tIns="152400" rIns="152400" bIns="76200" rtlCol="0" anchor="t"/>
          <a:lstStyle/>
          <a:p>
            <a:pPr indent="0" marL="0">
              <a:spcAft>
                <a:spcPts val="100"/>
              </a:spcAft>
              <a:buNone/>
            </a:pPr>
            <a:r>
              <a:rPr lang="en-US" sz="2800" b="1" dirty="0">
                <a:solidFill>
                  <a:schemeClr val="accent2"/>
                </a:solidFill>
              </a:rPr>
              <a:t>99%</a:t>
            </a:r>
            <a:endParaRPr lang="en-US" sz="2800" dirty="0"/>
          </a:p>
          <a:p>
            <a:pPr indent="0" marL="0">
              <a:buNone/>
            </a:pPr>
            <a:r>
              <a:rPr lang="en-US" sz="1100" dirty="0">
                <a:solidFill>
                  <a:schemeClr val="accent5"/>
                </a:solidFill>
              </a:rPr>
              <a:t>branch coverage, against a gate of 80%</a:t>
            </a:r>
            <a:endParaRPr lang="en-US" sz="2800" dirty="0"/>
          </a:p>
        </p:txBody>
      </p:sp>
      <p:sp>
        <p:nvSpPr>
          <p:cNvPr id="6" name="Stat 3"/>
          <p:cNvSpPr txBox="1"/>
          <p:nvPr/>
        </p:nvSpPr>
        <p:spPr>
          <a:xfrm>
            <a:off x="6185916" y="1280160"/>
            <a:ext cx="2635758" cy="1188720"/>
          </a:xfrm>
          <a:prstGeom prst="roundRect">
            <a:avLst>
              <a:gd name="adj" fmla="val 7692"/>
            </a:avLst>
          </a:prstGeom>
          <a:solidFill>
            <a:schemeClr val="bg1"/>
          </a:solidFill>
          <a:ln w="9525">
            <a:solidFill>
              <a:schemeClr val="accent4"/>
            </a:solidFill>
          </a:ln>
        </p:spPr>
        <p:txBody>
          <a:bodyPr wrap="square" lIns="76200" tIns="152400" rIns="152400" bIns="76200" rtlCol="0" anchor="t"/>
          <a:lstStyle/>
          <a:p>
            <a:pPr indent="0" marL="0">
              <a:spcAft>
                <a:spcPts val="100"/>
              </a:spcAft>
              <a:buNone/>
            </a:pPr>
            <a:r>
              <a:rPr lang="en-US" sz="2800" b="1" dirty="0">
                <a:solidFill>
                  <a:schemeClr val="accent2"/>
                </a:solidFill>
              </a:rPr>
              <a:t>3,440</a:t>
            </a:r>
            <a:endParaRPr lang="en-US" sz="2800" dirty="0"/>
          </a:p>
          <a:p>
            <a:pPr indent="0" marL="0">
              <a:buNone/>
            </a:pPr>
            <a:r>
              <a:rPr lang="en-US" sz="1100" dirty="0">
                <a:solidFill>
                  <a:schemeClr val="accent5"/>
                </a:solidFill>
              </a:rPr>
              <a:t>lines of code (1,800 Python, 1,640 front end), with 2,330 lines of tests</a:t>
            </a:r>
            <a:endParaRPr lang="en-US" sz="2800" dirty="0"/>
          </a:p>
        </p:txBody>
      </p:sp>
      <p:sp>
        <p:nvSpPr>
          <p:cNvPr id="7" name="Stat 4"/>
          <p:cNvSpPr txBox="1"/>
          <p:nvPr/>
        </p:nvSpPr>
        <p:spPr>
          <a:xfrm>
            <a:off x="9004554" y="1280160"/>
            <a:ext cx="2635758" cy="1188720"/>
          </a:xfrm>
          <a:prstGeom prst="roundRect">
            <a:avLst>
              <a:gd name="adj" fmla="val 7692"/>
            </a:avLst>
          </a:prstGeom>
          <a:solidFill>
            <a:schemeClr val="bg1"/>
          </a:solidFill>
          <a:ln w="9525">
            <a:solidFill>
              <a:schemeClr val="accent4"/>
            </a:solidFill>
          </a:ln>
        </p:spPr>
        <p:txBody>
          <a:bodyPr wrap="square" lIns="76200" tIns="152400" rIns="152400" bIns="76200" rtlCol="0" anchor="t"/>
          <a:lstStyle/>
          <a:p>
            <a:pPr indent="0" marL="0">
              <a:spcAft>
                <a:spcPts val="100"/>
              </a:spcAft>
              <a:buNone/>
            </a:pPr>
            <a:r>
              <a:rPr lang="en-US" sz="2800" b="1" dirty="0">
                <a:solidFill>
                  <a:schemeClr val="accent2"/>
                </a:solidFill>
              </a:rPr>
              <a:t>13 of 13</a:t>
            </a:r>
            <a:endParaRPr lang="en-US" sz="2800" dirty="0"/>
          </a:p>
          <a:p>
            <a:pPr indent="0" marL="0">
              <a:buNone/>
            </a:pPr>
            <a:r>
              <a:rPr lang="en-US" sz="1100" dirty="0">
                <a:solidFill>
                  <a:schemeClr val="accent5"/>
                </a:solidFill>
              </a:rPr>
              <a:t>milestones done: pipeline, vector ranking, API, front end</a:t>
            </a:r>
            <a:endParaRPr lang="en-US" sz="2800" dirty="0"/>
          </a:p>
        </p:txBody>
      </p:sp>
      <p:sp>
        <p:nvSpPr>
          <p:cNvPr id="8" name="Screenshot frame"/>
          <p:cNvSpPr/>
          <p:nvPr/>
        </p:nvSpPr>
        <p:spPr>
          <a:xfrm>
            <a:off x="1037844" y="2578608"/>
            <a:ext cx="4901184" cy="2811209"/>
          </a:xfrm>
          <a:prstGeom prst="rect">
            <a:avLst/>
          </a:prstGeom>
          <a:solidFill>
            <a:schemeClr val="bg1"/>
          </a:solidFill>
          <a:ln w="9525">
            <a:solidFill>
              <a:schemeClr val="accent4"/>
            </a:solidFill>
            <a:prstDash val="solid"/>
          </a:ln>
        </p:spPr>
      </p:sp>
      <p:pic>
        <p:nvPicPr>
          <p:cNvPr id="9" name="Job view." descr="The job view of the app: a job description is selected and the candidates are ranked, best first, with a similarity score, an interview recommendation and calculated attributes.">    </p:cNvPr>
          <p:cNvPicPr>
            <a:picLocks noChangeAspect="1"/>
          </p:cNvPicPr>
          <p:nvPr/>
        </p:nvPicPr>
        <p:blipFill>
          <a:blip r:embed="rId1"/>
          <a:stretch>
            <a:fillRect/>
          </a:stretch>
        </p:blipFill>
        <p:spPr>
          <a:xfrm>
            <a:off x="1065276" y="2606040"/>
            <a:ext cx="4846320" cy="2756345"/>
          </a:xfrm>
          <a:prstGeom prst="rect">
            <a:avLst/>
          </a:prstGeom>
        </p:spPr>
      </p:pic>
      <p:sp>
        <p:nvSpPr>
          <p:cNvPr id="10" name="Caption"/>
          <p:cNvSpPr txBox="1"/>
          <p:nvPr/>
        </p:nvSpPr>
        <p:spPr>
          <a:xfrm>
            <a:off x="1065276" y="5453825"/>
            <a:ext cx="4846320" cy="457200"/>
          </a:xfrm>
          <a:prstGeom prst="rect">
            <a:avLst/>
          </a:prstGeom>
          <a:noFill/>
          <a:ln/>
        </p:spPr>
        <p:txBody>
          <a:bodyPr wrap="square" lIns="0" tIns="0" rIns="0" bIns="0" rtlCol="0" anchor="t"/>
          <a:lstStyle/>
          <a:p>
            <a:pPr indent="0" marL="0">
              <a:buNone/>
            </a:pPr>
            <a:r>
              <a:rPr lang="en-US" sz="1100" b="1" dirty="0">
                <a:solidFill>
                  <a:schemeClr val="tx2"/>
                </a:solidFill>
              </a:rPr>
              <a:t>Job view.</a:t>
            </a:r>
            <a:pPr indent="0" marL="0">
              <a:buNone/>
            </a:pPr>
            <a:r>
              <a:rPr lang="en-US" sz="1100" dirty="0">
                <a:solidFill>
                  <a:schemeClr val="accent5"/>
                </a:solidFill>
              </a:rPr>
              <a:t> Candidates ranked by similarity, with the LLM’s recommendation and the calculated attributes.</a:t>
            </a:r>
            <a:endParaRPr lang="en-US" sz="1100" dirty="0"/>
          </a:p>
        </p:txBody>
      </p:sp>
      <p:sp>
        <p:nvSpPr>
          <p:cNvPr id="11" name="Screenshot frame"/>
          <p:cNvSpPr/>
          <p:nvPr/>
        </p:nvSpPr>
        <p:spPr>
          <a:xfrm>
            <a:off x="6249924" y="2578608"/>
            <a:ext cx="4901184" cy="2811209"/>
          </a:xfrm>
          <a:prstGeom prst="rect">
            <a:avLst/>
          </a:prstGeom>
          <a:solidFill>
            <a:schemeClr val="bg1"/>
          </a:solidFill>
          <a:ln w="9525">
            <a:solidFill>
              <a:schemeClr val="accent4"/>
            </a:solidFill>
            <a:prstDash val="solid"/>
          </a:ln>
        </p:spPr>
      </p:sp>
      <p:pic>
        <p:nvPicPr>
          <p:cNvPr id="12" name="Candidate view." descr="The candidate view of the app: the extracted and calculated attributes beside the raw CV text.">    </p:cNvPr>
          <p:cNvPicPr>
            <a:picLocks noChangeAspect="1"/>
          </p:cNvPicPr>
          <p:nvPr/>
        </p:nvPicPr>
        <p:blipFill>
          <a:blip r:embed="rId2"/>
          <a:stretch>
            <a:fillRect/>
          </a:stretch>
        </p:blipFill>
        <p:spPr>
          <a:xfrm>
            <a:off x="6277356" y="2606040"/>
            <a:ext cx="4846320" cy="2756345"/>
          </a:xfrm>
          <a:prstGeom prst="rect">
            <a:avLst/>
          </a:prstGeom>
        </p:spPr>
      </p:pic>
      <p:sp>
        <p:nvSpPr>
          <p:cNvPr id="13" name="Caption"/>
          <p:cNvSpPr txBox="1"/>
          <p:nvPr/>
        </p:nvSpPr>
        <p:spPr>
          <a:xfrm>
            <a:off x="6277356" y="5453825"/>
            <a:ext cx="4846320" cy="457200"/>
          </a:xfrm>
          <a:prstGeom prst="rect">
            <a:avLst/>
          </a:prstGeom>
          <a:noFill/>
          <a:ln/>
        </p:spPr>
        <p:txBody>
          <a:bodyPr wrap="square" lIns="0" tIns="0" rIns="0" bIns="0" rtlCol="0" anchor="t"/>
          <a:lstStyle/>
          <a:p>
            <a:pPr indent="0" marL="0">
              <a:buNone/>
            </a:pPr>
            <a:r>
              <a:rPr lang="en-US" sz="1100" b="1" dirty="0">
                <a:solidFill>
                  <a:schemeClr val="tx2"/>
                </a:solidFill>
              </a:rPr>
              <a:t>Candidate view.</a:t>
            </a:r>
            <a:pPr indent="0" marL="0">
              <a:buNone/>
            </a:pPr>
            <a:r>
              <a:rPr lang="en-US" sz="1100" dirty="0">
                <a:solidFill>
                  <a:schemeClr val="accent5"/>
                </a:solidFill>
              </a:rPr>
              <a:t> The attributes beside the raw CV, so the manager can check the source.</a:t>
            </a:r>
            <a:endParaRPr lang="en-US" sz="1100" dirty="0"/>
          </a:p>
        </p:txBody>
      </p:sp>
      <p:sp>
        <p:nvSpPr>
          <p:cNvPr id="14" name="Footnote"/>
          <p:cNvSpPr txBox="1"/>
          <p:nvPr/>
        </p:nvSpPr>
        <p:spPr>
          <a:xfrm>
            <a:off x="548640" y="5943600"/>
            <a:ext cx="11091672" cy="411480"/>
          </a:xfrm>
          <a:prstGeom prst="rect">
            <a:avLst/>
          </a:prstGeom>
          <a:noFill/>
          <a:ln/>
        </p:spPr>
        <p:txBody>
          <a:bodyPr wrap="square" lIns="0" tIns="0" rIns="0" bIns="0" rtlCol="0" anchor="t"/>
          <a:lstStyle/>
          <a:p>
            <a:pPr indent="0" marL="0">
              <a:buNone/>
            </a:pPr>
            <a:r>
              <a:rPr lang="en-US" sz="1050" dirty="0">
                <a:solidFill>
                  <a:schemeClr val="accent5"/>
                </a:solidFill>
              </a:rPr>
              <a:t>Screens from the real front end, served with sample data standing in for the LLM results. Every check passes: ruff, mypy, pytest, ESLint, Stylelint, Prettier and tsc. The one step no automated test covers is a run against the real OpenAI service. That check is the user’s.</a:t>
            </a:r>
            <a:endParaRPr lang="en-US" sz="1050" dirty="0"/>
          </a:p>
        </p:txBody>
      </p:sp>
      <p:sp>
        <p:nvSpPr>
          <p:cNvPr id="25" name="Slide Number Placeholder 0"/>
          <p:cNvSpPr>
            <a:spLocks noGrp="1"/>
          </p:cNvSpPr>
          <p:nvPr>
            <p:ph type="sldNum" sz="quarter" idx="4294967295"/>
          </p:nvPr>
        </p:nvSpPr>
        <p:spPr>
          <a:xfrm>
            <a:off x="10972800" y="6446520"/>
            <a:ext cx="667512"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Motif circle"/>
          <p:cNvSpPr/>
          <p:nvPr/>
        </p:nvSpPr>
        <p:spPr>
          <a:xfrm>
            <a:off x="-2377440" y="4206240"/>
            <a:ext cx="5852160" cy="5852160"/>
          </a:xfrm>
          <a:prstGeom prst="ellipse">
            <a:avLst/>
          </a:prstGeom>
          <a:solidFill>
            <a:schemeClr val="accent2">
              <a:alpha val="45000"/>
            </a:schemeClr>
          </a:solidFill>
          <a:ln/>
        </p:spPr>
      </p:sp>
      <p:sp>
        <p:nvSpPr>
          <p:cNvPr id="3" name="Title"/>
          <p:cNvSpPr txBox="1"/>
          <p:nvPr/>
        </p:nvSpPr>
        <p:spPr>
          <a:xfrm>
            <a:off x="822960" y="2011680"/>
            <a:ext cx="10543032" cy="1280160"/>
          </a:xfrm>
          <a:prstGeom prst="rect">
            <a:avLst/>
          </a:prstGeom>
          <a:noFill/>
          <a:ln/>
        </p:spPr>
        <p:txBody>
          <a:bodyPr wrap="square" lIns="0" tIns="0" rIns="0" bIns="0" rtlCol="0" anchor="ctr"/>
          <a:lstStyle/>
          <a:p>
            <a:pPr algn="ctr" indent="0" marL="0">
              <a:buNone/>
            </a:pPr>
            <a:r>
              <a:rPr lang="en-US" sz="5400" b="1" dirty="0">
                <a:solidFill>
                  <a:schemeClr val="bg1"/>
                </a:solidFill>
              </a:rPr>
              <a:t>Will the software be bug-free?</a:t>
            </a:r>
            <a:endParaRPr lang="en-US" sz="5400" dirty="0"/>
          </a:p>
        </p:txBody>
      </p:sp>
      <p:sp>
        <p:nvSpPr>
          <p:cNvPr id="4" name="Answer"/>
          <p:cNvSpPr txBox="1"/>
          <p:nvPr/>
        </p:nvSpPr>
        <p:spPr>
          <a:xfrm>
            <a:off x="822960" y="3566160"/>
            <a:ext cx="10543032" cy="731520"/>
          </a:xfrm>
          <a:prstGeom prst="rect">
            <a:avLst/>
          </a:prstGeom>
          <a:noFill/>
          <a:ln/>
        </p:spPr>
        <p:txBody>
          <a:bodyPr wrap="square" lIns="0" tIns="0" rIns="0" bIns="0" rtlCol="0" anchor="ctr"/>
          <a:lstStyle/>
          <a:p>
            <a:pPr algn="ctr" indent="0" marL="0">
              <a:buNone/>
            </a:pPr>
            <a:r>
              <a:rPr lang="en-US" sz="3200" b="1" dirty="0">
                <a:solidFill>
                  <a:srgbClr val="9CC3EA"/>
                </a:solidFill>
              </a:rPr>
              <a:t>No. What do we do then?</a:t>
            </a:r>
            <a:endParaRPr lang="en-US" sz="3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Motif circle"/>
          <p:cNvSpPr/>
          <p:nvPr/>
        </p:nvSpPr>
        <p:spPr>
          <a:xfrm>
            <a:off x="8778240" y="-2377440"/>
            <a:ext cx="5852160" cy="5852160"/>
          </a:xfrm>
          <a:prstGeom prst="ellipse">
            <a:avLst/>
          </a:prstGeom>
          <a:solidFill>
            <a:schemeClr val="accent2">
              <a:alpha val="45000"/>
            </a:schemeClr>
          </a:solidFill>
          <a:ln/>
        </p:spPr>
      </p:sp>
      <p:sp>
        <p:nvSpPr>
          <p:cNvPr id="3" name="Title"/>
          <p:cNvSpPr txBox="1"/>
          <p:nvPr/>
        </p:nvSpPr>
        <p:spPr>
          <a:xfrm>
            <a:off x="822960" y="2194560"/>
            <a:ext cx="10543032" cy="2194560"/>
          </a:xfrm>
          <a:prstGeom prst="rect">
            <a:avLst/>
          </a:prstGeom>
          <a:noFill/>
          <a:ln/>
        </p:spPr>
        <p:txBody>
          <a:bodyPr wrap="square" lIns="0" tIns="0" rIns="0" bIns="0" rtlCol="0" anchor="ctr"/>
          <a:lstStyle/>
          <a:p>
            <a:pPr algn="ctr" indent="0" marL="0">
              <a:buNone/>
            </a:pPr>
            <a:r>
              <a:rPr lang="en-US" sz="9600" b="1" dirty="0">
                <a:solidFill>
                  <a:schemeClr val="bg1"/>
                </a:solidFill>
              </a:rPr>
              <a:t>Iterate!</a:t>
            </a:r>
            <a:endParaRPr lang="en-US" sz="9600" dirty="0"/>
          </a:p>
        </p:txBody>
      </p:sp>
    </p:spTree>
  </p:cSld>
  <p:clrMapOvr>
    <a:masterClrMapping/>
  </p:clrMapOvr>
</p:sld>
</file>

<file path=ppt/theme/theme1.xml><?xml version="1.0" encoding="utf-8"?>
<a:theme xmlns:a="http://schemas.openxmlformats.org/drawingml/2006/main" name="Fully AI-Assisted Coding">
  <a:themeElements>
    <a:clrScheme name="Fully AI-Assisted Coding">
      <a:dk1>
        <a:srgbClr val="1B2A3A"/>
      </a:dk1>
      <a:lt1>
        <a:srgbClr val="FFFFFF"/>
      </a:lt1>
      <a:dk2>
        <a:srgbClr val="0F2A47"/>
      </a:dk2>
      <a:lt2>
        <a:srgbClr val="F3F5F8"/>
      </a:lt2>
      <a:accent1>
        <a:srgbClr val="2F6FAE"/>
      </a:accent1>
      <a:accent2>
        <a:srgbClr val="1F4E79"/>
      </a:accent2>
      <a:accent3>
        <a:srgbClr val="E4EDF7"/>
      </a:accent3>
      <a:accent4>
        <a:srgbClr val="D6DEE7"/>
      </a:accent4>
      <a:accent5>
        <a:srgbClr val="5D6B7A"/>
      </a:accent5>
      <a:accent6>
        <a:srgbClr val="8A97A5"/>
      </a:accent6>
      <a:hlink>
        <a:srgbClr val="2F6FAE"/>
      </a:hlink>
      <a:folHlink>
        <a:srgbClr val="1F4E79"/>
      </a:folHlink>
    </a:clrScheme>
    <a:fontScheme name="Fully AI-Assisted Coding">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Fully AI-Assisted Coding</dc:title>
  <dc:subject>PptxGenJS Presentation</dc:subject>
  <dc:creator>Ahmad Alkashef</dc:creator>
  <cp:lastModifiedBy>Ahmad Alkashef</cp:lastModifiedBy>
  <cp:revision>1</cp:revision>
  <dcterms:created xsi:type="dcterms:W3CDTF">2026-10-15T18:47:51Z</dcterms:created>
  <dcterms:modified xsi:type="dcterms:W3CDTF">2026-10-15T18:47:51Z</dcterms:modified>
</cp:coreProperties>
</file>